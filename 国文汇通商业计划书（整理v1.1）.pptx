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00.svg" ContentType="image/svg+xml"/>
  <Override PartName="/ppt/media/image102.svg" ContentType="image/svg+xml"/>
  <Override PartName="/ppt/media/image104.svg" ContentType="image/svg+xml"/>
  <Override PartName="/ppt/media/image106.svg" ContentType="image/svg+xml"/>
  <Override PartName="/ppt/media/image108.svg" ContentType="image/svg+xml"/>
  <Override PartName="/ppt/media/image110.svg" ContentType="image/svg+xml"/>
  <Override PartName="/ppt/media/image112.svg" ContentType="image/svg+xml"/>
  <Override PartName="/ppt/media/image114.svg" ContentType="image/svg+xml"/>
  <Override PartName="/ppt/media/image117.svg" ContentType="image/svg+xml"/>
  <Override PartName="/ppt/media/image119.svg" ContentType="image/svg+xml"/>
  <Override PartName="/ppt/media/image122.svg" ContentType="image/svg+xml"/>
  <Override PartName="/ppt/media/image124.svg" ContentType="image/svg+xml"/>
  <Override PartName="/ppt/media/image126.svg" ContentType="image/svg+xml"/>
  <Override PartName="/ppt/media/image128.svg" ContentType="image/svg+xml"/>
  <Override PartName="/ppt/media/image13.svg" ContentType="image/svg+xml"/>
  <Override PartName="/ppt/media/image130.svg" ContentType="image/svg+xml"/>
  <Override PartName="/ppt/media/image132.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70.svg" ContentType="image/svg+xml"/>
  <Override PartName="/ppt/media/image72.svg" ContentType="image/svg+xml"/>
  <Override PartName="/ppt/media/image74.svg" ContentType="image/svg+xml"/>
  <Override PartName="/ppt/media/image76.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media/image92.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handoutMasterIdLst>
    <p:handoutMasterId r:id="rId29"/>
  </p:handout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56"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56"/>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handoutMaster" Target="handoutMasters/handoutMaster1.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来宾，大家下午好。欢迎参加国文汇通商业计划书发布会。今天，我将向大家展示国文汇通如何抓住国家文化数字化战略的历史机遇，致力于打造一个合规、可信、可持续的文化数字资产基础设施平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前，国家正大力推进文化数字化战略。2022年5月，中办、国办印发了《关于推进实施国家文化数字化战略的意见》，明确了到2035年建成国家文化大数据体系的宏伟目标。这一战略为我们国文汇通这样的平台提供了前所未有的发展机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政策的推动下，数字文创资产行业迎来了爆发式增长。市场规模不断扩大，Z世代成为消费主力。同时，行业也在不断走向规范，数字资产与实体经济的融合趋势日益明显，一个全新的文化数字经济生态正在形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了解了宏观的政策和行业背景后，我们不禁要问，国文汇通为何会在这个时间点出现？答案可以归结为三个层面。首先，市场痛点。当前的数字文创市场机遇与挑战并存，乱象丛生，市场迫切需要一个权威合规的平台来建立秩序。其次，政策导向。国家文化数字化战略的东风，为我们指明了方向，国文汇通正是为了响应国家号召，承担起推动文化产业创新发展的使命。最后，技术发展。区块链技术的成熟，为我们提供了实现文化资产可信流转的强大工具。因此，国文汇通的出现，是市场、政策和技术共同作用的必然结果，是时代的呼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一页，我们来深入了解国文汇通的核心优势，也就是我们构建的坚实护城河。首先，我们拥有无可比拟的“国资背书”，作为文交所直属平台，我们的合规性和权威性是行业顶尖的。其次，我们的“全资质完备”，接入国家星火链网，确保了资产的确权和存证安全。在运营层面，我们实现了“全渠道覆盖”和“最优支付体验”，为用户提供了极大的便利。我们的“经济模型”和“生态系统”设计完整，旨在实现价值的稳健增长和数实融合。最后，我们引以为傲的是我们“顶尖的团队和丰厚的资源”，这是我们成功的核心保障。总而言之，国文汇通正在打造一个以合规为基础、以用户价值为导向的数字资产新标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核心优势的第二部分，我们重点看三个方面。首先是我们的“经济模型”，它设计完整，通过绑定真实需求来确保资产价值的稳健增长。其次是我们“清晰的生态系统”，我们成功地构建了从数字获取到实体消费的闭环，实现了数实融合。最后，也是我们最宝贵的财富之一，是我们“顶尖的团队和丰厚的资源”。我们的核心成员都来自行业头部平台，拥有成功的操盘经验，同时我们还依托强大的股东背景，进行跨界资源整合。这些共同构成了国文汇通不可复制的竞争壁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国文汇通的核心竞争力，源于我们顶尖的专业团队。我们的核心成员拥有国内最早的数字文化资产布局经验。</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首先，我们非常荣幸地邀请到了“唯一艺术”团队的创始人佟世天先生，他将带领团队全面负责我们的战略规划与创新发展。</a:t>
            </a:r>
            <a:endParaRPr lang="en-US" sz="1400" b="0" i="0" u="none" strike="noStrike">
              <a:solidFill>
                <a:srgbClr val="000000"/>
              </a:solidFill>
            </a:endParaRPr>
          </a:p>
          <a:p>
            <a:pPr indent="0" algn="l">
              <a:lnSpc>
                <a:spcPct val="100000"/>
              </a:lnSpc>
            </a:pPr>
            <a:r>
              <a:rPr lang="en-US" sz="1400" b="0" i="0" u="none" strike="noStrike">
                <a:solidFill>
                  <a:srgbClr val="000000"/>
                </a:solidFill>
              </a:rPr>
              <a:t>同时，原IBOX平台的总运营“喜鹊”先生也率领他的核心团队加盟，负责我们的整体运营和生态建设，他们曾创造过市值超百亿的行业奇迹。</a:t>
            </a:r>
            <a:endParaRPr lang="en-US" sz="1400" b="0" i="0" u="none" strike="noStrike">
              <a:solidFill>
                <a:srgbClr val="000000"/>
              </a:solidFill>
            </a:endParaRPr>
          </a:p>
          <a:p>
            <a:pPr indent="0" algn="l">
              <a:lnSpc>
                <a:spcPct val="100000"/>
              </a:lnSpc>
            </a:pPr>
            <a:r>
              <a:rPr lang="en-US" sz="1400" b="0" i="0" u="none" strike="noStrike">
                <a:solidFill>
                  <a:srgbClr val="000000"/>
                </a:solidFill>
              </a:rPr>
              <a:t>此外，我们的首席营销官Jeff先生，是区块链教育领域的专家，将负责品牌战略和市场传播。</a:t>
            </a:r>
            <a:endParaRPr lang="en-US" sz="1400" b="0" i="0" u="none" strike="noStrike">
              <a:solidFill>
                <a:srgbClr val="000000"/>
              </a:solidFill>
            </a:endParaRPr>
          </a:p>
          <a:p>
            <a:pPr indent="0" algn="l">
              <a:lnSpc>
                <a:spcPct val="100000"/>
              </a:lnSpc>
            </a:pPr>
            <a:r>
              <a:rPr lang="en-US" sz="1400" b="0" i="0" u="none" strike="noStrike">
                <a:solidFill>
                  <a:srgbClr val="000000"/>
                </a:solidFill>
              </a:rPr>
              <a:t>如此豪华的团队配置，是我们成功的最大保障。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国文汇通的强大实力，离不开我们深厚的战略资源储备。这一页展示了我们的四大资源矩阵。首先，在交易所资源方面，我们与多家省级文交所建立了战略合作关系。其次，我们的股东资源阵容豪华，汇集了江苏省内顶级的文化国企和机构，为平台提供了坚实的实体权益支撑。第三，在文旅局资源方面，我们成功将地方文旅资源与国家平台战略相结合，例如与泉州文旅局的深度合作。最后，在品牌资源方面，我们已经与众多知名文化品牌达成合作，构建了高质量的内容供给矩阵。这些资源共同构成了我们不可复制的竞争壁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国文汇通的生态模型可以概括为“一体两翼三维四域”。在这一页，我们首先来看“一体”和“两翼”。 “一体”指的是我们的核心定位——国家文化数据中枢，我们要做的就是连接国家文化大数据体系和市场。而“两翼”则是支撑我们实现这一目标的两大保障：“标准翼”和“信任翼”。我们通过制定行业标准来引领发展，通过技术创新来构建信任，从而为整个生态的健康运行奠定坚实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一体两翼”的基础上，我们进一步构建了“三维四域”的业务布局。“三维”指的是“数据-平台-场景”，我们从数据采集，到平台服务，再到场景应用，形成了一个完整的价值闭环。而“四域”则是我们业务的具体落地领域，我们将重点在文博典藏、非遗活化、文旅融合和品牌消费这四个方向上深耕细作，将我们的生态模型转化为实实在在的业务成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设计了独特的双资产生态经济模型。《国文通卷》是平台的基石权益，而“国文通宝”是价值流转的媒介。为了实现生态的健康发展，我们通过“寄存挖矿”的通胀机制来激励长期持有，同时通过手续费注销、打新消耗等六大通缩机制来保障通宝的价值。这个“激励-消耗”的闭环，确保了我们生态经济的可持续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详细解读国文汇通商业模式的核心——六大通缩机制。这六大机制共同构成了一个完整的价值闭环，旨在确保平台核心资产“国文通宝”的长期价值稳定。具体来看：第一，回收注销，平台会用收益回收并注销通宝，直接减少流通量。第二，手续费抵扣，鼓励用户在交易中使用通宝。第三，资产发行认证，新项目上链需要消耗通宝，保证了项目质量。第四，生态玩法博弈，通过游戏化的方式增加通宝的使用场景。第五，企业入驻门槛，品牌方入驻需要质押通宝，维护了平台生态的健康。第六，线下实体兑换，通宝可以兑换真实商品和服务，实现了数实结合。通过这六大机制，我们构建了一个自我强化的价值生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平台设计了一套精巧的经济模型，通过通胀与通缩的动态平衡，来保证整个生态的健康与可持续发展。在通胀端，我们通过“通卷寄存”和每日发放“通宝”来激励用户参与，为生态注入价值和流动性。在通缩端，我们设计了包括持续回收、手续费抵扣、发行认证等在内的多种机制来消耗和注销Token，从而捕获价值，确保“通卷”和“通宝”的长期价值稳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生态发展将遵循清晰的“三步走”战略。第一阶段是“奠定基石”，通过激励机制快速获取种子用户。第二阶段是“生态稳健”，我们将平衡各方利益，精细化运营，让市场认可我们的生态价值。第三阶段，也就是“价值爆发”阶段，我们将全面拓展应用场景，实现生态的规模化扩张和价值的最大化，最终成为行业的领导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致力于为用户创造多元化的收益渠道，让每一位参与者都能共享生态发展的成果。用户不仅可以通过寄存藏品和二级市场交易获得直接收益，还能参与“打新”、享受“通宝”的生态增值。更重要的是，我们打通了线上与线下，用户可以用数字资产在合作商户处消费，兑换商品和服务，真正实现了数字资产的价值落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看第一个核心应用场景：文化资产的确权与流通。国文汇通致力于成为文化数字资产的“公证处”和“交易所”。我们通过与文博机构合作，将珍贵的馆藏资源上链，构建国家级的文化数字资产库。同时，我们赋能非遗传承人和当代艺术家，为他们的作品提供从数字确权、发行到收益分配的一站式解决方案，让文化价值在数字时代得到更高效的流转和实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场景聚焦于数字文旅与文化消费。我们将传统的文旅产品，如门票、住宿等，转化为可流转的数字权益凭证。同时，国文通宝将作为“文创支付通证”，打通线上数字资产与线下文化消费的壁垒，无论是在文化园区还是文创商店，都能实现无缝支付。此外，我们还支持文化品牌发行数字衍生品，构建线上线下联动的消费新生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个场景，我们拥抱前沿的Web3.0概念，推出GameFi和StudyFi互动模块。在GameFi方面，我们将文化元素融入游戏设计，让用户在娱乐中学习文化知识，并获得数字资产奖励。在StudyFi方面，我们为第三方机构提供了一个引流和用户运营的工具，通过激励机制，鼓励用户深度参与学习和社区活动，从而构建一个充满活力的文化元宇宙生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个应用场景，我们着眼于企业与产业的深度协同。国文汇通不仅是一个交易平台，更是一个开放的生态系统。我们通过开放API接口，赋能第三方机构自主发行数字资产。我们与地方政府合作，共建区域性的文化数字资产中心。同时，我们还支持跨界品牌进行IP共创和联合营销，用数字资产激活会员体系，构建一个共赢的产业生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的目光投向全球，致力于成为中国文化出海的数字桥梁。我们将积极对接海外主流的NFT和艺术交易平台，让中国优秀的文化数字资产走向世界。同时，我们将提供多语言支持和跨境结算服务，并建立一套完善的海外IP授权与权益保护机制，帮助国内文化企业在全球范围内实现价值最大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展望未来，我们制定了清晰的三步走战略。短期内，我们将聚焦标杆打造；中期，我们将加速生态扩张；长期来看，我们的目标是成为具有全球竞争力的数字文化资产生态平台，让中华文化通过数字的力量走向世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使命，是“以文化为魂，以科技为器，以金融为力”。在文化层面，我们致力于让中华优秀传统文化在数字时代“活起来”。在产业层面，我们要建立一个合规、安全的数字文化资产体系，打造文化与金融融合的新引擎。在社会层面，我们希望通过技术和金融的力量，赋能每一个文化创意，让它们在数字经济中绽放新的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愿景，是“汇聚文化之光，通达数字未来”。我们立志成为中国领先的文化数字资产基础设施平台和国家级的生态枢纽。我们将积极推动文化资产交易的全球标准化，并最终构建一个文化、科技与金融共生共荣的数字文明新体系。总而言之，国文汇通的愿景，就是成为连接中华文化与世界的数字桥梁，让每一份文化资产都能实现其应有的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我的介绍到此结束。再次感谢各位的聆听。国文汇通，期待与您携手，共创辉煌。谢谢大家！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image" Target="../media/image10.svg"/><Relationship Id="rId7" Type="http://schemas.openxmlformats.org/officeDocument/2006/relationships/image" Target="../media/image9.png"/><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8.svg"/><Relationship Id="rId2" Type="http://schemas.openxmlformats.org/officeDocument/2006/relationships/image" Target="../media/image7.png"/><Relationship Id="rId19" Type="http://schemas.openxmlformats.org/officeDocument/2006/relationships/notesSlide" Target="../notesSlides/notesSlide3.xml"/><Relationship Id="rId18" Type="http://schemas.openxmlformats.org/officeDocument/2006/relationships/slideLayout" Target="../slideLayouts/slideLayout12.xml"/><Relationship Id="rId17" Type="http://schemas.openxmlformats.org/officeDocument/2006/relationships/image" Target="../media/image11.png"/><Relationship Id="rId16" Type="http://schemas.openxmlformats.org/officeDocument/2006/relationships/tags" Target="../tags/tag10.xml"/><Relationship Id="rId15" Type="http://schemas.openxmlformats.org/officeDocument/2006/relationships/tags" Target="../tags/tag9.xml"/><Relationship Id="rId14" Type="http://schemas.openxmlformats.org/officeDocument/2006/relationships/tags" Target="../tags/tag8.xml"/><Relationship Id="rId13" Type="http://schemas.openxmlformats.org/officeDocument/2006/relationships/image" Target="../media/image4.svg"/><Relationship Id="rId12" Type="http://schemas.openxmlformats.org/officeDocument/2006/relationships/image" Target="../media/image3.png"/><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3.svg"/><Relationship Id="rId3" Type="http://schemas.openxmlformats.org/officeDocument/2006/relationships/image" Target="../media/image12.png"/><Relationship Id="rId2" Type="http://schemas.openxmlformats.org/officeDocument/2006/relationships/image" Target="../media/image8.sv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3.svg"/><Relationship Id="rId7" Type="http://schemas.openxmlformats.org/officeDocument/2006/relationships/image" Target="../media/image22.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13.svg"/><Relationship Id="rId10" Type="http://schemas.openxmlformats.org/officeDocument/2006/relationships/notesSlide" Target="../notesSlides/notesSlide8.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7.svg"/><Relationship Id="rId7" Type="http://schemas.openxmlformats.org/officeDocument/2006/relationships/image" Target="../media/image26.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13.svg"/><Relationship Id="rId10" Type="http://schemas.openxmlformats.org/officeDocument/2006/relationships/notesSlide" Target="../notesSlides/notesSlide9.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image" Target="../media/image33.svg"/><Relationship Id="rId7" Type="http://schemas.openxmlformats.org/officeDocument/2006/relationships/image" Target="../media/image32.png"/><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31.svg"/><Relationship Id="rId3" Type="http://schemas.openxmlformats.org/officeDocument/2006/relationships/image" Target="../media/image30.png"/><Relationship Id="rId2" Type="http://schemas.openxmlformats.org/officeDocument/2006/relationships/image" Target="../media/image29.svg"/><Relationship Id="rId14" Type="http://schemas.openxmlformats.org/officeDocument/2006/relationships/notesSlide" Target="../notesSlides/notesSlide10.xml"/><Relationship Id="rId13" Type="http://schemas.openxmlformats.org/officeDocument/2006/relationships/slideLayout" Target="../slideLayouts/slideLayout12.xml"/><Relationship Id="rId12" Type="http://schemas.openxmlformats.org/officeDocument/2006/relationships/image" Target="../media/image37.svg"/><Relationship Id="rId11" Type="http://schemas.openxmlformats.org/officeDocument/2006/relationships/image" Target="../media/image36.png"/><Relationship Id="rId10" Type="http://schemas.openxmlformats.org/officeDocument/2006/relationships/image" Target="../media/image35.svg"/><Relationship Id="rId1" Type="http://schemas.openxmlformats.org/officeDocument/2006/relationships/image" Target="../media/image28.png"/></Relationships>
</file>

<file path=ppt/slides/_rels/slide11.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5.svg"/><Relationship Id="rId7" Type="http://schemas.openxmlformats.org/officeDocument/2006/relationships/image" Target="../media/image44.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 Id="rId3" Type="http://schemas.openxmlformats.org/officeDocument/2006/relationships/image" Target="../media/image40.png"/><Relationship Id="rId20" Type="http://schemas.openxmlformats.org/officeDocument/2006/relationships/notesSlide" Target="../notesSlides/notesSlide11.xml"/><Relationship Id="rId2" Type="http://schemas.openxmlformats.org/officeDocument/2006/relationships/image" Target="../media/image39.svg"/><Relationship Id="rId19" Type="http://schemas.openxmlformats.org/officeDocument/2006/relationships/slideLayout" Target="../slideLayouts/slideLayout12.xml"/><Relationship Id="rId18" Type="http://schemas.openxmlformats.org/officeDocument/2006/relationships/image" Target="../media/image55.svg"/><Relationship Id="rId17" Type="http://schemas.openxmlformats.org/officeDocument/2006/relationships/image" Target="../media/image54.png"/><Relationship Id="rId16" Type="http://schemas.openxmlformats.org/officeDocument/2006/relationships/image" Target="../media/image53.svg"/><Relationship Id="rId15" Type="http://schemas.openxmlformats.org/officeDocument/2006/relationships/image" Target="../media/image52.png"/><Relationship Id="rId14" Type="http://schemas.openxmlformats.org/officeDocument/2006/relationships/image" Target="../media/image51.svg"/><Relationship Id="rId13" Type="http://schemas.openxmlformats.org/officeDocument/2006/relationships/image" Target="../media/image50.png"/><Relationship Id="rId12" Type="http://schemas.openxmlformats.org/officeDocument/2006/relationships/image" Target="../media/image49.svg"/><Relationship Id="rId11" Type="http://schemas.openxmlformats.org/officeDocument/2006/relationships/image" Target="../media/image48.png"/><Relationship Id="rId10" Type="http://schemas.openxmlformats.org/officeDocument/2006/relationships/image" Target="../media/image47.svg"/><Relationship Id="rId1" Type="http://schemas.openxmlformats.org/officeDocument/2006/relationships/image" Target="../media/image38.png"/></Relationships>
</file>

<file path=ppt/slides/_rels/slide12.xml.rels><?xml version="1.0" encoding="UTF-8" standalone="yes"?>
<Relationships xmlns="http://schemas.openxmlformats.org/package/2006/relationships"><Relationship Id="rId9" Type="http://schemas.openxmlformats.org/officeDocument/2006/relationships/image" Target="../media/image64.png"/><Relationship Id="rId8" Type="http://schemas.openxmlformats.org/officeDocument/2006/relationships/image" Target="../media/image63.svg"/><Relationship Id="rId7" Type="http://schemas.openxmlformats.org/officeDocument/2006/relationships/image" Target="../media/image62.png"/><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 Id="rId3" Type="http://schemas.openxmlformats.org/officeDocument/2006/relationships/image" Target="../media/image58.png"/><Relationship Id="rId2" Type="http://schemas.openxmlformats.org/officeDocument/2006/relationships/image" Target="../media/image57.svg"/><Relationship Id="rId16" Type="http://schemas.openxmlformats.org/officeDocument/2006/relationships/notesSlide" Target="../notesSlides/notesSlide12.xml"/><Relationship Id="rId15" Type="http://schemas.openxmlformats.org/officeDocument/2006/relationships/slideLayout" Target="../slideLayouts/slideLayout12.xml"/><Relationship Id="rId14" Type="http://schemas.openxmlformats.org/officeDocument/2006/relationships/image" Target="../media/image27.svg"/><Relationship Id="rId13" Type="http://schemas.openxmlformats.org/officeDocument/2006/relationships/image" Target="../media/image68.png"/><Relationship Id="rId12" Type="http://schemas.openxmlformats.org/officeDocument/2006/relationships/image" Target="../media/image67.svg"/><Relationship Id="rId11" Type="http://schemas.openxmlformats.org/officeDocument/2006/relationships/image" Target="../media/image66.png"/><Relationship Id="rId10" Type="http://schemas.openxmlformats.org/officeDocument/2006/relationships/image" Target="../media/image65.svg"/><Relationship Id="rId1" Type="http://schemas.openxmlformats.org/officeDocument/2006/relationships/image" Target="../media/image56.png"/></Relationships>
</file>

<file path=ppt/slides/_rels/slide13.xml.rels><?xml version="1.0" encoding="UTF-8" standalone="yes"?>
<Relationships xmlns="http://schemas.openxmlformats.org/package/2006/relationships"><Relationship Id="rId9" Type="http://schemas.openxmlformats.org/officeDocument/2006/relationships/image" Target="../media/image77.png"/><Relationship Id="rId8" Type="http://schemas.openxmlformats.org/officeDocument/2006/relationships/image" Target="../media/image76.svg"/><Relationship Id="rId7" Type="http://schemas.openxmlformats.org/officeDocument/2006/relationships/image" Target="../media/image75.png"/><Relationship Id="rId6" Type="http://schemas.openxmlformats.org/officeDocument/2006/relationships/image" Target="../media/image74.svg"/><Relationship Id="rId5" Type="http://schemas.openxmlformats.org/officeDocument/2006/relationships/image" Target="../media/image73.png"/><Relationship Id="rId4" Type="http://schemas.openxmlformats.org/officeDocument/2006/relationships/image" Target="../media/image72.svg"/><Relationship Id="rId3" Type="http://schemas.openxmlformats.org/officeDocument/2006/relationships/image" Target="../media/image71.png"/><Relationship Id="rId2" Type="http://schemas.openxmlformats.org/officeDocument/2006/relationships/image" Target="../media/image70.svg"/><Relationship Id="rId16" Type="http://schemas.openxmlformats.org/officeDocument/2006/relationships/notesSlide" Target="../notesSlides/notesSlide13.xml"/><Relationship Id="rId15" Type="http://schemas.openxmlformats.org/officeDocument/2006/relationships/slideLayout" Target="../slideLayouts/slideLayout12.xml"/><Relationship Id="rId14" Type="http://schemas.openxmlformats.org/officeDocument/2006/relationships/image" Target="../media/image82.svg"/><Relationship Id="rId13" Type="http://schemas.openxmlformats.org/officeDocument/2006/relationships/image" Target="../media/image81.png"/><Relationship Id="rId12" Type="http://schemas.openxmlformats.org/officeDocument/2006/relationships/image" Target="../media/image80.svg"/><Relationship Id="rId11" Type="http://schemas.openxmlformats.org/officeDocument/2006/relationships/image" Target="../media/image79.png"/><Relationship Id="rId10" Type="http://schemas.openxmlformats.org/officeDocument/2006/relationships/image" Target="../media/image78.svg"/><Relationship Id="rId1" Type="http://schemas.openxmlformats.org/officeDocument/2006/relationships/image" Target="../media/image69.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2.xml"/><Relationship Id="rId6" Type="http://schemas.openxmlformats.org/officeDocument/2006/relationships/image" Target="../media/image86.svg"/><Relationship Id="rId5" Type="http://schemas.openxmlformats.org/officeDocument/2006/relationships/image" Target="../media/image85.png"/><Relationship Id="rId4" Type="http://schemas.openxmlformats.org/officeDocument/2006/relationships/image" Target="../media/image84.svg"/><Relationship Id="rId3" Type="http://schemas.openxmlformats.org/officeDocument/2006/relationships/image" Target="../media/image83.png"/><Relationship Id="rId2" Type="http://schemas.openxmlformats.org/officeDocument/2006/relationships/image" Target="../media/image27.svg"/><Relationship Id="rId1" Type="http://schemas.openxmlformats.org/officeDocument/2006/relationships/image" Target="../media/image68.png"/></Relationships>
</file>

<file path=ppt/slides/_rels/slide15.xml.rels><?xml version="1.0" encoding="UTF-8" standalone="yes"?>
<Relationships xmlns="http://schemas.openxmlformats.org/package/2006/relationships"><Relationship Id="rId9" Type="http://schemas.openxmlformats.org/officeDocument/2006/relationships/image" Target="../media/image66.png"/><Relationship Id="rId8" Type="http://schemas.openxmlformats.org/officeDocument/2006/relationships/image" Target="../media/image92.svg"/><Relationship Id="rId7" Type="http://schemas.openxmlformats.org/officeDocument/2006/relationships/image" Target="../media/image91.png"/><Relationship Id="rId6" Type="http://schemas.openxmlformats.org/officeDocument/2006/relationships/image" Target="../media/image4.svg"/><Relationship Id="rId5" Type="http://schemas.openxmlformats.org/officeDocument/2006/relationships/image" Target="../media/image90.png"/><Relationship Id="rId4" Type="http://schemas.openxmlformats.org/officeDocument/2006/relationships/image" Target="../media/image8.svg"/><Relationship Id="rId3" Type="http://schemas.openxmlformats.org/officeDocument/2006/relationships/image" Target="../media/image89.png"/><Relationship Id="rId2" Type="http://schemas.openxmlformats.org/officeDocument/2006/relationships/image" Target="../media/image88.svg"/><Relationship Id="rId16" Type="http://schemas.openxmlformats.org/officeDocument/2006/relationships/notesSlide" Target="../notesSlides/notesSlide15.xml"/><Relationship Id="rId15" Type="http://schemas.openxmlformats.org/officeDocument/2006/relationships/slideLayout" Target="../slideLayouts/slideLayout12.xml"/><Relationship Id="rId14" Type="http://schemas.openxmlformats.org/officeDocument/2006/relationships/image" Target="../media/image96.svg"/><Relationship Id="rId13" Type="http://schemas.openxmlformats.org/officeDocument/2006/relationships/image" Target="../media/image95.png"/><Relationship Id="rId12" Type="http://schemas.openxmlformats.org/officeDocument/2006/relationships/image" Target="../media/image94.svg"/><Relationship Id="rId11" Type="http://schemas.openxmlformats.org/officeDocument/2006/relationships/image" Target="../media/image93.png"/><Relationship Id="rId10" Type="http://schemas.openxmlformats.org/officeDocument/2006/relationships/image" Target="../media/image67.svg"/><Relationship Id="rId1" Type="http://schemas.openxmlformats.org/officeDocument/2006/relationships/image" Target="../media/image87.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7.svg"/><Relationship Id="rId7" Type="http://schemas.openxmlformats.org/officeDocument/2006/relationships/image" Target="../media/image68.png"/><Relationship Id="rId6" Type="http://schemas.openxmlformats.org/officeDocument/2006/relationships/image" Target="../media/image102.svg"/><Relationship Id="rId5" Type="http://schemas.openxmlformats.org/officeDocument/2006/relationships/image" Target="../media/image101.png"/><Relationship Id="rId4" Type="http://schemas.openxmlformats.org/officeDocument/2006/relationships/image" Target="../media/image100.svg"/><Relationship Id="rId3" Type="http://schemas.openxmlformats.org/officeDocument/2006/relationships/image" Target="../media/image99.png"/><Relationship Id="rId2" Type="http://schemas.openxmlformats.org/officeDocument/2006/relationships/image" Target="../media/image98.svg"/><Relationship Id="rId10" Type="http://schemas.openxmlformats.org/officeDocument/2006/relationships/notesSlide" Target="../notesSlides/notesSlide16.xml"/><Relationship Id="rId1" Type="http://schemas.openxmlformats.org/officeDocument/2006/relationships/image" Target="../media/image97.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2.xml"/><Relationship Id="rId6" Type="http://schemas.openxmlformats.org/officeDocument/2006/relationships/image" Target="../media/image108.svg"/><Relationship Id="rId5" Type="http://schemas.openxmlformats.org/officeDocument/2006/relationships/image" Target="../media/image107.png"/><Relationship Id="rId4" Type="http://schemas.openxmlformats.org/officeDocument/2006/relationships/image" Target="../media/image106.svg"/><Relationship Id="rId3" Type="http://schemas.openxmlformats.org/officeDocument/2006/relationships/image" Target="../media/image105.png"/><Relationship Id="rId2" Type="http://schemas.openxmlformats.org/officeDocument/2006/relationships/image" Target="../media/image104.svg"/><Relationship Id="rId1" Type="http://schemas.openxmlformats.org/officeDocument/2006/relationships/image" Target="../media/image103.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2.xml"/><Relationship Id="rId6" Type="http://schemas.openxmlformats.org/officeDocument/2006/relationships/image" Target="../media/image110.svg"/><Relationship Id="rId5" Type="http://schemas.openxmlformats.org/officeDocument/2006/relationships/image" Target="../media/image109.png"/><Relationship Id="rId4" Type="http://schemas.openxmlformats.org/officeDocument/2006/relationships/image" Target="../media/image100.svg"/><Relationship Id="rId3" Type="http://schemas.openxmlformats.org/officeDocument/2006/relationships/image" Target="../media/image99.png"/><Relationship Id="rId2" Type="http://schemas.openxmlformats.org/officeDocument/2006/relationships/image" Target="../media/image63.svg"/><Relationship Id="rId1" Type="http://schemas.openxmlformats.org/officeDocument/2006/relationships/image" Target="../media/image62.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115.png"/><Relationship Id="rId4" Type="http://schemas.openxmlformats.org/officeDocument/2006/relationships/image" Target="../media/image114.svg"/><Relationship Id="rId3" Type="http://schemas.openxmlformats.org/officeDocument/2006/relationships/image" Target="../media/image113.png"/><Relationship Id="rId2" Type="http://schemas.openxmlformats.org/officeDocument/2006/relationships/image" Target="../media/image112.svg"/><Relationship Id="rId1" Type="http://schemas.openxmlformats.org/officeDocument/2006/relationships/image" Target="../media/image111.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19.svg"/><Relationship Id="rId7" Type="http://schemas.openxmlformats.org/officeDocument/2006/relationships/image" Target="../media/image118.png"/><Relationship Id="rId6" Type="http://schemas.openxmlformats.org/officeDocument/2006/relationships/image" Target="../media/image117.svg"/><Relationship Id="rId5" Type="http://schemas.openxmlformats.org/officeDocument/2006/relationships/image" Target="../media/image116.png"/><Relationship Id="rId4" Type="http://schemas.openxmlformats.org/officeDocument/2006/relationships/image" Target="../media/image27.svg"/><Relationship Id="rId3" Type="http://schemas.openxmlformats.org/officeDocument/2006/relationships/image" Target="../media/image68.png"/><Relationship Id="rId2" Type="http://schemas.openxmlformats.org/officeDocument/2006/relationships/image" Target="../media/image110.svg"/><Relationship Id="rId10" Type="http://schemas.openxmlformats.org/officeDocument/2006/relationships/notesSlide" Target="../notesSlides/notesSlide20.xml"/><Relationship Id="rId1" Type="http://schemas.openxmlformats.org/officeDocument/2006/relationships/image" Target="../media/image109.pn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4.svg"/><Relationship Id="rId7" Type="http://schemas.openxmlformats.org/officeDocument/2006/relationships/image" Target="../media/image123.png"/><Relationship Id="rId6" Type="http://schemas.openxmlformats.org/officeDocument/2006/relationships/image" Target="../media/image122.svg"/><Relationship Id="rId5" Type="http://schemas.openxmlformats.org/officeDocument/2006/relationships/image" Target="../media/image121.png"/><Relationship Id="rId4" Type="http://schemas.openxmlformats.org/officeDocument/2006/relationships/image" Target="../media/image13.svg"/><Relationship Id="rId3" Type="http://schemas.openxmlformats.org/officeDocument/2006/relationships/image" Target="../media/image120.png"/><Relationship Id="rId2" Type="http://schemas.openxmlformats.org/officeDocument/2006/relationships/image" Target="../media/image4.svg"/><Relationship Id="rId10" Type="http://schemas.openxmlformats.org/officeDocument/2006/relationships/notesSlide" Target="../notesSlides/notesSlide21.xml"/><Relationship Id="rId1" Type="http://schemas.openxmlformats.org/officeDocument/2006/relationships/image" Target="../media/image90.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4.svg"/><Relationship Id="rId7" Type="http://schemas.openxmlformats.org/officeDocument/2006/relationships/image" Target="../media/image90.png"/><Relationship Id="rId6" Type="http://schemas.openxmlformats.org/officeDocument/2006/relationships/image" Target="../media/image130.svg"/><Relationship Id="rId5" Type="http://schemas.openxmlformats.org/officeDocument/2006/relationships/image" Target="../media/image129.png"/><Relationship Id="rId4" Type="http://schemas.openxmlformats.org/officeDocument/2006/relationships/image" Target="../media/image128.svg"/><Relationship Id="rId3" Type="http://schemas.openxmlformats.org/officeDocument/2006/relationships/image" Target="../media/image127.png"/><Relationship Id="rId2" Type="http://schemas.openxmlformats.org/officeDocument/2006/relationships/image" Target="../media/image126.svg"/><Relationship Id="rId10" Type="http://schemas.openxmlformats.org/officeDocument/2006/relationships/notesSlide" Target="../notesSlides/notesSlide22.xml"/><Relationship Id="rId1" Type="http://schemas.openxmlformats.org/officeDocument/2006/relationships/image" Target="../media/image125.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32.svg"/><Relationship Id="rId7" Type="http://schemas.openxmlformats.org/officeDocument/2006/relationships/image" Target="../media/image131.png"/><Relationship Id="rId6" Type="http://schemas.openxmlformats.org/officeDocument/2006/relationships/image" Target="../media/image122.svg"/><Relationship Id="rId5" Type="http://schemas.openxmlformats.org/officeDocument/2006/relationships/image" Target="../media/image121.png"/><Relationship Id="rId4" Type="http://schemas.openxmlformats.org/officeDocument/2006/relationships/image" Target="../media/image13.svg"/><Relationship Id="rId3" Type="http://schemas.openxmlformats.org/officeDocument/2006/relationships/image" Target="../media/image120.png"/><Relationship Id="rId2" Type="http://schemas.openxmlformats.org/officeDocument/2006/relationships/image" Target="../media/image4.svg"/><Relationship Id="rId10" Type="http://schemas.openxmlformats.org/officeDocument/2006/relationships/notesSlide" Target="../notesSlides/notesSlide23.xml"/><Relationship Id="rId1" Type="http://schemas.openxmlformats.org/officeDocument/2006/relationships/image" Target="../media/image9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image" Target="../media/image13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09600" y="1905000"/>
            <a:ext cx="109728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国文汇通商业计划书</a:t>
            </a:r>
            <a:endParaRPr lang="en-US" sz="1100"/>
          </a:p>
        </p:txBody>
      </p:sp>
      <p:cxnSp>
        <p:nvCxnSpPr>
          <p:cNvPr id="3" name="Connector 3"/>
          <p:cNvCxnSpPr/>
          <p:nvPr/>
        </p:nvCxnSpPr>
        <p:spPr>
          <a:xfrm rot="-34376">
            <a:off x="5461032" y="3041650"/>
            <a:ext cx="1270000" cy="12700"/>
          </a:xfrm>
          <a:prstGeom prst="straightConnector1">
            <a:avLst/>
          </a:prstGeom>
          <a:solidFill>
            <a:srgbClr val="DEE0E3">
              <a:alpha val="100000"/>
            </a:srgbClr>
          </a:solidFill>
          <a:ln w="38100" cap="flat" cmpd="sng">
            <a:solidFill>
              <a:srgbClr val="FFD700">
                <a:alpha val="100000"/>
              </a:srgbClr>
            </a:solidFill>
            <a:prstDash val="solid"/>
            <a:round/>
            <a:headEnd type="none" w="lg" len="lg"/>
            <a:tailEnd type="none" w="lg" len="lg"/>
          </a:ln>
        </p:spPr>
      </p:cxnSp>
      <p:sp>
        <p:nvSpPr>
          <p:cNvPr id="4" name="AutoShape 4"/>
          <p:cNvSpPr/>
          <p:nvPr/>
        </p:nvSpPr>
        <p:spPr>
          <a:xfrm>
            <a:off x="609600" y="3429000"/>
            <a:ext cx="10972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数字文创资产合规发行与交易一站式平台</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06400"/>
            <a:ext cx="9525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1. 政策东风：文化数字化的国家战略</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651000"/>
            <a:ext cx="355600" cy="355600"/>
          </a:xfrm>
          <a:prstGeom prst="rect">
            <a:avLst/>
          </a:prstGeom>
        </p:spPr>
      </p:pic>
      <p:sp>
        <p:nvSpPr>
          <p:cNvPr id="5" name="AutoShape 5"/>
          <p:cNvSpPr/>
          <p:nvPr/>
        </p:nvSpPr>
        <p:spPr>
          <a:xfrm>
            <a:off x="1320800" y="16764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顶层设计</a:t>
            </a:r>
            <a:endParaRPr lang="en-US" sz="1100"/>
          </a:p>
        </p:txBody>
      </p:sp>
      <p:sp>
        <p:nvSpPr>
          <p:cNvPr id="6" name="AutoShape 6"/>
          <p:cNvSpPr/>
          <p:nvPr/>
        </p:nvSpPr>
        <p:spPr>
          <a:xfrm>
            <a:off x="1320800" y="2032000"/>
            <a:ext cx="48260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中共中央办公厅、国务院办公厅于2022年5月印发《关于推进实施国家文化数字化战略的意见》，从战略高度为文化数字化发展提供了根本遵循和行动指南。</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3048000"/>
            <a:ext cx="355600" cy="355600"/>
          </a:xfrm>
          <a:prstGeom prst="rect">
            <a:avLst/>
          </a:prstGeom>
        </p:spPr>
      </p:pic>
      <p:sp>
        <p:nvSpPr>
          <p:cNvPr id="8" name="AutoShape 8"/>
          <p:cNvSpPr/>
          <p:nvPr/>
        </p:nvSpPr>
        <p:spPr>
          <a:xfrm>
            <a:off x="1320800" y="30734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战略目标</a:t>
            </a:r>
            <a:endParaRPr lang="en-US" sz="1100"/>
          </a:p>
        </p:txBody>
      </p:sp>
      <p:sp>
        <p:nvSpPr>
          <p:cNvPr id="9" name="AutoShape 9"/>
          <p:cNvSpPr/>
          <p:nvPr/>
        </p:nvSpPr>
        <p:spPr>
          <a:xfrm>
            <a:off x="1320800" y="3403600"/>
            <a:ext cx="4826000" cy="1143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意见》明确了两步走的战略目标。到“十四五”时期末，基本建成文化数字化基础设施和服务平台；到2035年，建成物理分布、逻辑关联、快速链接、高效搜索、全面共享、重点集成的国家文化大数据体系，中华文化全景呈现。</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4445000"/>
            <a:ext cx="355600" cy="355600"/>
          </a:xfrm>
          <a:prstGeom prst="rect">
            <a:avLst/>
          </a:prstGeom>
        </p:spPr>
      </p:pic>
      <p:sp>
        <p:nvSpPr>
          <p:cNvPr id="11" name="AutoShape 11"/>
          <p:cNvSpPr/>
          <p:nvPr/>
        </p:nvSpPr>
        <p:spPr>
          <a:xfrm>
            <a:off x="1320800" y="44704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重点任务</a:t>
            </a:r>
            <a:endParaRPr lang="en-US" sz="1100"/>
          </a:p>
        </p:txBody>
      </p:sp>
      <p:sp>
        <p:nvSpPr>
          <p:cNvPr id="12" name="AutoShape 12"/>
          <p:cNvSpPr/>
          <p:nvPr/>
        </p:nvSpPr>
        <p:spPr>
          <a:xfrm>
            <a:off x="1320800" y="4800600"/>
            <a:ext cx="4826000" cy="139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意见》提出了8项重点任务，包括关联形成中华文化数据库、夯实基础设施、搭建服务平台、鼓励机构转型、发展消费新场景等。其中明确提出要“培育一批新型文化企业”，为平台型企业提供了前所未有的发展机遇。</a:t>
            </a:r>
            <a:endParaRPr lang="en-US" sz="1100"/>
          </a:p>
        </p:txBody>
      </p:sp>
      <p:cxnSp>
        <p:nvCxnSpPr>
          <p:cNvPr id="13" name="Connector 13"/>
          <p:cNvCxnSpPr/>
          <p:nvPr/>
        </p:nvCxnSpPr>
        <p:spPr>
          <a:xfrm rot="5389257">
            <a:off x="4343400" y="3549660"/>
            <a:ext cx="4064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4" name="AutoShape 14"/>
          <p:cNvSpPr/>
          <p:nvPr/>
        </p:nvSpPr>
        <p:spPr>
          <a:xfrm>
            <a:off x="6604000" y="16764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战略发展时间轴</a:t>
            </a:r>
            <a:endParaRPr lang="en-US" sz="1100"/>
          </a:p>
        </p:txBody>
      </p:sp>
      <p:cxnSp>
        <p:nvCxnSpPr>
          <p:cNvPr id="15" name="Connector 15"/>
          <p:cNvCxnSpPr/>
          <p:nvPr/>
        </p:nvCxnSpPr>
        <p:spPr>
          <a:xfrm rot="5382811">
            <a:off x="5461000" y="3549666"/>
            <a:ext cx="2540000" cy="12700"/>
          </a:xfrm>
          <a:prstGeom prst="straightConnector1">
            <a:avLst/>
          </a:prstGeom>
          <a:solidFill>
            <a:srgbClr val="DEE0E3">
              <a:alpha val="100000"/>
            </a:srgbClr>
          </a:solidFill>
          <a:ln w="25400" cap="flat" cmpd="sng">
            <a:solidFill>
              <a:srgbClr val="000080">
                <a:alpha val="100000"/>
              </a:srgbClr>
            </a:solidFill>
            <a:prstDash val="solid"/>
            <a:round/>
            <a:headEnd type="none" w="lg" len="lg"/>
            <a:tailEnd type="none" w="lg" len="lg"/>
          </a:ln>
        </p:spPr>
      </p:cxnSp>
      <p:sp>
        <p:nvSpPr>
          <p:cNvPr id="16" name="AutoShape 16"/>
          <p:cNvSpPr/>
          <p:nvPr/>
        </p:nvSpPr>
        <p:spPr>
          <a:xfrm>
            <a:off x="6654800" y="2286000"/>
            <a:ext cx="152400" cy="152400"/>
          </a:xfrm>
          <a:prstGeom prst="ellipse">
            <a:avLst/>
          </a:prstGeom>
          <a:solidFill>
            <a:srgbClr val="FFD700">
              <a:alpha val="100000"/>
            </a:srgbClr>
          </a:solidFill>
          <a:ln w="25400" cap="flat" cmpd="sng">
            <a:solidFill>
              <a:srgbClr val="000080">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985000" y="2286000"/>
            <a:ext cx="381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2022年5月</a:t>
            </a:r>
            <a:endParaRPr lang="en-US" sz="1100"/>
          </a:p>
        </p:txBody>
      </p:sp>
      <p:sp>
        <p:nvSpPr>
          <p:cNvPr id="18" name="AutoShape 18"/>
          <p:cNvSpPr/>
          <p:nvPr/>
        </p:nvSpPr>
        <p:spPr>
          <a:xfrm>
            <a:off x="6985000" y="2641600"/>
            <a:ext cx="406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《意见》发布，顶层设计出台</a:t>
            </a:r>
            <a:endParaRPr lang="en-US" sz="1100"/>
          </a:p>
        </p:txBody>
      </p:sp>
      <p:sp>
        <p:nvSpPr>
          <p:cNvPr id="19" name="AutoShape 19"/>
          <p:cNvSpPr/>
          <p:nvPr/>
        </p:nvSpPr>
        <p:spPr>
          <a:xfrm>
            <a:off x="6654800" y="3302000"/>
            <a:ext cx="152400" cy="152400"/>
          </a:xfrm>
          <a:prstGeom prst="ellipse">
            <a:avLst/>
          </a:prstGeom>
          <a:solidFill>
            <a:srgbClr val="FFD700">
              <a:alpha val="100000"/>
            </a:srgbClr>
          </a:solidFill>
          <a:ln w="25400" cap="flat" cmpd="sng">
            <a:solidFill>
              <a:srgbClr val="000080">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985000" y="3302000"/>
            <a:ext cx="381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2025年</a:t>
            </a:r>
            <a:endParaRPr lang="en-US" sz="1100"/>
          </a:p>
        </p:txBody>
      </p:sp>
      <p:sp>
        <p:nvSpPr>
          <p:cNvPr id="21" name="AutoShape 21"/>
          <p:cNvSpPr/>
          <p:nvPr/>
        </p:nvSpPr>
        <p:spPr>
          <a:xfrm>
            <a:off x="6985000" y="3657600"/>
            <a:ext cx="406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基本建成基础设施和服务平台</a:t>
            </a:r>
            <a:endParaRPr lang="en-US" sz="1100"/>
          </a:p>
        </p:txBody>
      </p:sp>
      <p:sp>
        <p:nvSpPr>
          <p:cNvPr id="22" name="AutoShape 22"/>
          <p:cNvSpPr/>
          <p:nvPr/>
        </p:nvSpPr>
        <p:spPr>
          <a:xfrm>
            <a:off x="6654800" y="4318000"/>
            <a:ext cx="152400" cy="152400"/>
          </a:xfrm>
          <a:prstGeom prst="ellipse">
            <a:avLst/>
          </a:prstGeom>
          <a:solidFill>
            <a:srgbClr val="FFD700">
              <a:alpha val="100000"/>
            </a:srgbClr>
          </a:solidFill>
          <a:ln w="25400" cap="flat" cmpd="sng">
            <a:solidFill>
              <a:srgbClr val="000080">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985000" y="4318000"/>
            <a:ext cx="381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2035年</a:t>
            </a:r>
            <a:endParaRPr lang="en-US" sz="1100"/>
          </a:p>
        </p:txBody>
      </p:sp>
      <p:sp>
        <p:nvSpPr>
          <p:cNvPr id="24" name="AutoShape 24"/>
          <p:cNvSpPr/>
          <p:nvPr/>
        </p:nvSpPr>
        <p:spPr>
          <a:xfrm>
            <a:off x="6985000" y="4673600"/>
            <a:ext cx="406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建成国家文化大数据体系</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31800"/>
            <a:ext cx="825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0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2. 行业浪潮：数字文创资产的崛起</a:t>
            </a:r>
            <a:endParaRPr lang="en-US" sz="1100"/>
          </a:p>
        </p:txBody>
      </p:sp>
      <p:cxnSp>
        <p:nvCxnSpPr>
          <p:cNvPr id="3" name="Connector 3"/>
          <p:cNvCxnSpPr/>
          <p:nvPr/>
        </p:nvCxnSpPr>
        <p:spPr>
          <a:xfrm rot="-4092">
            <a:off x="762004" y="11620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custDataLst>
              <p:tags r:id="rId1"/>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4000" y="1549400"/>
            <a:ext cx="406400" cy="406400"/>
          </a:xfrm>
          <a:prstGeom prst="rect">
            <a:avLst/>
          </a:prstGeom>
        </p:spPr>
      </p:pic>
      <p:sp>
        <p:nvSpPr>
          <p:cNvPr id="5" name="AutoShape 5"/>
          <p:cNvSpPr/>
          <p:nvPr>
            <p:custDataLst>
              <p:tags r:id="rId4"/>
            </p:custDataLst>
          </p:nvPr>
        </p:nvSpPr>
        <p:spPr>
          <a:xfrm>
            <a:off x="762000" y="16002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市场规模持续扩大</a:t>
            </a:r>
            <a:endParaRPr lang="en-US" sz="1100"/>
          </a:p>
        </p:txBody>
      </p:sp>
      <p:sp>
        <p:nvSpPr>
          <p:cNvPr id="6" name="AutoShape 6"/>
          <p:cNvSpPr/>
          <p:nvPr>
            <p:custDataLst>
              <p:tags r:id="rId5"/>
            </p:custDataLst>
          </p:nvPr>
        </p:nvSpPr>
        <p:spPr>
          <a:xfrm>
            <a:off x="762000" y="1930400"/>
            <a:ext cx="3302000" cy="139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中国数字文化行业市场规模持续扩大，2024年已达到13.5万亿元，预计2026年将增长至14.7万亿元。其中，作为文化数字化的重要载体，数字资产市场规模在2027年预计将突破3000亿元，展现出强劲的增长势头。</a:t>
            </a:r>
            <a:endParaRPr lang="en-US" sz="1100"/>
          </a:p>
        </p:txBody>
      </p:sp>
      <p:pic>
        <p:nvPicPr>
          <p:cNvPr id="7" name="Picture 7"/>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937000" y="1549400"/>
            <a:ext cx="406400" cy="406400"/>
          </a:xfrm>
          <a:prstGeom prst="rect">
            <a:avLst/>
          </a:prstGeom>
        </p:spPr>
      </p:pic>
      <p:sp>
        <p:nvSpPr>
          <p:cNvPr id="8" name="AutoShape 8"/>
          <p:cNvSpPr/>
          <p:nvPr>
            <p:custDataLst>
              <p:tags r:id="rId9"/>
            </p:custDataLst>
          </p:nvPr>
        </p:nvSpPr>
        <p:spPr>
          <a:xfrm>
            <a:off x="4495800" y="16002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Z世代成消费主力</a:t>
            </a:r>
            <a:endParaRPr lang="en-US" sz="1100"/>
          </a:p>
        </p:txBody>
      </p:sp>
      <p:sp>
        <p:nvSpPr>
          <p:cNvPr id="9" name="AutoShape 9"/>
          <p:cNvSpPr/>
          <p:nvPr>
            <p:custDataLst>
              <p:tags r:id="rId10"/>
            </p:custDataLst>
          </p:nvPr>
        </p:nvSpPr>
        <p:spPr>
          <a:xfrm>
            <a:off x="4445000" y="1930400"/>
            <a:ext cx="3302000" cy="139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Z世代（95后、00后）已成为数字文创消费的绝对主力军，占比超过67%。他们是数字原住民，对新鲜事物接受度高，追求个性化、情感化和社交化的消费体验，愿意为具有文化价值和情感共鸣的数字资产付费。</a:t>
            </a:r>
            <a:endParaRPr lang="en-US" sz="1100"/>
          </a:p>
        </p:txBody>
      </p:sp>
      <p:pic>
        <p:nvPicPr>
          <p:cNvPr id="10" name="Picture 10"/>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20000" y="1549400"/>
            <a:ext cx="406400" cy="406400"/>
          </a:xfrm>
          <a:prstGeom prst="rect">
            <a:avLst/>
          </a:prstGeom>
        </p:spPr>
      </p:pic>
      <p:sp>
        <p:nvSpPr>
          <p:cNvPr id="11" name="AutoShape 11"/>
          <p:cNvSpPr/>
          <p:nvPr>
            <p:custDataLst>
              <p:tags r:id="rId14"/>
            </p:custDataLst>
          </p:nvPr>
        </p:nvSpPr>
        <p:spPr>
          <a:xfrm>
            <a:off x="8178800" y="16002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迈向合规与融合</a:t>
            </a:r>
            <a:endParaRPr lang="en-US" sz="1100"/>
          </a:p>
        </p:txBody>
      </p:sp>
      <p:sp>
        <p:nvSpPr>
          <p:cNvPr id="12" name="AutoShape 12"/>
          <p:cNvSpPr/>
          <p:nvPr>
            <p:custDataLst>
              <p:tags r:id="rId15"/>
            </p:custDataLst>
          </p:nvPr>
        </p:nvSpPr>
        <p:spPr>
          <a:xfrm>
            <a:off x="8128000" y="1930400"/>
            <a:ext cx="3302000" cy="139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合规化</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：监管政策日趋完善，合规成为平台生存和发展的前提。</a:t>
            </a:r>
            <a:endParaRPr lang="en-US" sz="1100"/>
          </a:p>
          <a:p>
            <a:pPr indent="0" algn="l">
              <a:lnSpc>
                <a:spcPct val="125000"/>
              </a:lnSpc>
            </a:pPr>
            <a:r>
              <a:rPr lang="en-US" sz="14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数实融合</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：数字资产与实体经济深度融合，成为连接线上与线下、赋能实体消费的重要工具。</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4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生态化</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：构建涵盖IP孵化、资产发行、交易流通、消费应用的完整生态成为行业发展的必然趋势。</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3" name="Connector 13"/>
          <p:cNvCxnSpPr/>
          <p:nvPr>
            <p:custDataLst>
              <p:tags r:id="rId16"/>
            </p:custDataLst>
          </p:nvPr>
        </p:nvCxnSpPr>
        <p:spPr>
          <a:xfrm rot="-4092">
            <a:off x="812804" y="3596005"/>
            <a:ext cx="1066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pic>
        <p:nvPicPr>
          <p:cNvPr id="14" name="Picture 14"/>
          <p:cNvPicPr>
            <a:picLocks noChangeAspect="1"/>
          </p:cNvPicPr>
          <p:nvPr/>
        </p:nvPicPr>
        <p:blipFill>
          <a:blip r:embed="rId17"/>
          <a:stretch>
            <a:fillRect/>
          </a:stretch>
        </p:blipFill>
        <p:spPr>
          <a:xfrm>
            <a:off x="762000" y="3615055"/>
            <a:ext cx="10668000" cy="304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60400"/>
            <a:ext cx="825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3. 国文汇通为何出现？</a:t>
            </a:r>
            <a:endParaRPr lang="en-US" sz="1100"/>
          </a:p>
        </p:txBody>
      </p:sp>
      <p:cxnSp>
        <p:nvCxnSpPr>
          <p:cNvPr id="3" name="Connector 3"/>
          <p:cNvCxnSpPr/>
          <p:nvPr/>
        </p:nvCxnSpPr>
        <p:spPr>
          <a:xfrm rot="-4297">
            <a:off x="1016004" y="14541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09658" y="2535283"/>
            <a:ext cx="3302000" cy="3556000"/>
          </a:xfrm>
          <a:prstGeom prst="roundRect">
            <a:avLst>
              <a:gd name="adj" fmla="val 307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63658" y="2789283"/>
            <a:ext cx="406400" cy="406400"/>
          </a:xfrm>
          <a:prstGeom prst="rect">
            <a:avLst/>
          </a:prstGeom>
        </p:spPr>
      </p:pic>
      <p:sp>
        <p:nvSpPr>
          <p:cNvPr id="6" name="AutoShape 6"/>
          <p:cNvSpPr/>
          <p:nvPr/>
        </p:nvSpPr>
        <p:spPr>
          <a:xfrm>
            <a:off x="1263658" y="3322683"/>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市场痛点：乱象与机遇</a:t>
            </a:r>
            <a:endParaRPr lang="en-US" sz="1100"/>
          </a:p>
        </p:txBody>
      </p:sp>
      <p:sp>
        <p:nvSpPr>
          <p:cNvPr id="7" name="AutoShape 7"/>
          <p:cNvSpPr/>
          <p:nvPr/>
        </p:nvSpPr>
        <p:spPr>
          <a:xfrm>
            <a:off x="1263658" y="3741783"/>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在巨大需求的当下，市场亟需权威、合规、透明的平台来规范交易，重塑行业秩序，保护创作者与消费者权益。</a:t>
            </a:r>
            <a:endParaRPr lang="en-US" sz="1100"/>
          </a:p>
        </p:txBody>
      </p:sp>
      <p:sp>
        <p:nvSpPr>
          <p:cNvPr id="8" name="AutoShape 8"/>
          <p:cNvSpPr/>
          <p:nvPr/>
        </p:nvSpPr>
        <p:spPr>
          <a:xfrm>
            <a:off x="4438658" y="2535283"/>
            <a:ext cx="3302000" cy="3556000"/>
          </a:xfrm>
          <a:prstGeom prst="roundRect">
            <a:avLst>
              <a:gd name="adj" fmla="val 307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2658" y="2789283"/>
            <a:ext cx="406400" cy="406400"/>
          </a:xfrm>
          <a:prstGeom prst="rect">
            <a:avLst/>
          </a:prstGeom>
        </p:spPr>
      </p:pic>
      <p:sp>
        <p:nvSpPr>
          <p:cNvPr id="10" name="AutoShape 10"/>
          <p:cNvSpPr/>
          <p:nvPr/>
        </p:nvSpPr>
        <p:spPr>
          <a:xfrm>
            <a:off x="4692658" y="3322683"/>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政策导向：国家战略要求</a:t>
            </a:r>
            <a:endParaRPr lang="en-US" sz="1100"/>
          </a:p>
        </p:txBody>
      </p:sp>
      <p:sp>
        <p:nvSpPr>
          <p:cNvPr id="11" name="AutoShape 11"/>
          <p:cNvSpPr/>
          <p:nvPr/>
        </p:nvSpPr>
        <p:spPr>
          <a:xfrm>
            <a:off x="4692658" y="3741783"/>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响应国家文化数字化战略，成为连接文化、科技与金融的桥梁，推动产业高质量发展。</a:t>
            </a:r>
            <a:endParaRPr lang="en-US" sz="1100"/>
          </a:p>
        </p:txBody>
      </p:sp>
      <p:sp>
        <p:nvSpPr>
          <p:cNvPr id="12" name="AutoShape 12"/>
          <p:cNvSpPr/>
          <p:nvPr/>
        </p:nvSpPr>
        <p:spPr>
          <a:xfrm>
            <a:off x="7867658" y="2535283"/>
            <a:ext cx="3302000" cy="3556000"/>
          </a:xfrm>
          <a:prstGeom prst="roundRect">
            <a:avLst>
              <a:gd name="adj" fmla="val 307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1658" y="2789283"/>
            <a:ext cx="406400" cy="406400"/>
          </a:xfrm>
          <a:prstGeom prst="rect">
            <a:avLst/>
          </a:prstGeom>
        </p:spPr>
      </p:pic>
      <p:sp>
        <p:nvSpPr>
          <p:cNvPr id="14" name="AutoShape 14"/>
          <p:cNvSpPr/>
          <p:nvPr/>
        </p:nvSpPr>
        <p:spPr>
          <a:xfrm>
            <a:off x="8121658" y="3322683"/>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技术发展：区块链赋能</a:t>
            </a:r>
            <a:endParaRPr lang="en-US" sz="1100"/>
          </a:p>
        </p:txBody>
      </p:sp>
      <p:sp>
        <p:nvSpPr>
          <p:cNvPr id="15" name="AutoShape 15"/>
          <p:cNvSpPr/>
          <p:nvPr/>
        </p:nvSpPr>
        <p:spPr>
          <a:xfrm>
            <a:off x="8121658" y="3741783"/>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利用区块链确保数字资产的确权、追溯与交易，构建可信生态，让文化价值高效流转。</a:t>
            </a:r>
            <a:endParaRPr lang="en-US" sz="1100"/>
          </a:p>
        </p:txBody>
      </p:sp>
      <p:cxnSp>
        <p:nvCxnSpPr>
          <p:cNvPr id="16" name="Connector 16"/>
          <p:cNvCxnSpPr/>
          <p:nvPr/>
        </p:nvCxnSpPr>
        <p:spPr>
          <a:xfrm rot="-4297">
            <a:off x="1009654" y="2152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7" name="AutoShape 17"/>
          <p:cNvSpPr/>
          <p:nvPr/>
        </p:nvSpPr>
        <p:spPr>
          <a:xfrm>
            <a:off x="1016000" y="1651000"/>
            <a:ext cx="1016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7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国文汇通的出现，是市场、政策和技术共同作用的必然结果，是时代的呼唤。</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228600"/>
            <a:ext cx="1130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60"/>
                </a:solidFill>
                <a:latin typeface="Noto Sans SC" panose="020B0200000000000000" charset="-122"/>
                <a:ea typeface="Noto Sans SC" panose="020B0200000000000000" charset="-122"/>
                <a:cs typeface="Noto Sans SC" panose="020B0200000000000000" charset="-122"/>
                <a:sym typeface="Noto Sans SC" panose="020B0200000000000000" charset="-122"/>
              </a:rPr>
              <a:t>4. 平台核心优势：构建坚实的护城河（一）</a:t>
            </a:r>
            <a:endParaRPr lang="en-US" sz="1100"/>
          </a:p>
        </p:txBody>
      </p:sp>
      <p:cxnSp>
        <p:nvCxnSpPr>
          <p:cNvPr id="3" name="Connector 3"/>
          <p:cNvCxnSpPr/>
          <p:nvPr/>
        </p:nvCxnSpPr>
        <p:spPr>
          <a:xfrm rot="-4092">
            <a:off x="762004" y="1162050"/>
            <a:ext cx="10668000" cy="12700"/>
          </a:xfrm>
          <a:prstGeom prst="straightConnector1">
            <a:avLst/>
          </a:prstGeom>
          <a:solidFill>
            <a:srgbClr val="DEE0E3">
              <a:alpha val="100000"/>
            </a:srgbClr>
          </a:solidFill>
          <a:ln w="12700" cap="flat" cmpd="sng">
            <a:solidFill>
              <a:srgbClr val="DCDFE3">
                <a:alpha val="100000"/>
              </a:srgbClr>
            </a:solidFill>
            <a:prstDash val="solid"/>
            <a:round/>
            <a:headEnd type="none" w="med" len="med"/>
            <a:tailEnd type="none" w="med" len="med"/>
          </a:ln>
        </p:spPr>
      </p:cxnSp>
      <p:sp>
        <p:nvSpPr>
          <p:cNvPr id="4" name="AutoShape 4"/>
          <p:cNvSpPr/>
          <p:nvPr/>
        </p:nvSpPr>
        <p:spPr>
          <a:xfrm>
            <a:off x="762000" y="1320800"/>
            <a:ext cx="10668000" cy="330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国资背书，权威合规</a:t>
            </a:r>
            <a:endParaRPr lang="en-US" sz="1100"/>
          </a:p>
          <a:p>
            <a:pPr indent="0" algn="l">
              <a:lnSpc>
                <a:spcPct val="125000"/>
              </a:lnSpc>
            </a:pPr>
            <a:r>
              <a:rPr lang="en-US" sz="15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文交所直属、国企背景，双重监管加持，业务全流程可溯，公信力远超同行业其他平台。</a:t>
            </a:r>
            <a:endParaRPr lang="en-US" sz="15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br>
              <a:rPr lang="en-US" sz="15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sz="15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全资质完备，合规扎实</a:t>
            </a:r>
            <a:endPar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5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持全链条合规证照，接入星火链网子链紫金山链，承接国家文化数字化战略，确权存证能力领先。</a:t>
            </a:r>
            <a:endParaRPr lang="en-US" sz="15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br>
              <a:rPr lang="en-US" sz="15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sz="15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全渠道覆盖，触达高效</a:t>
            </a:r>
            <a:endPar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5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APP全平台应用商城上架，覆盖主流终端，打通用户获取通道，扩大市场覆盖面。</a:t>
            </a:r>
            <a:endParaRPr lang="en-US" sz="15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br>
              <a:rPr lang="en-US" sz="15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sz="15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支付最优，安全便捷</a:t>
            </a:r>
            <a:endPar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5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搭建行业顶尖支付通道，即将对接省级结算中心持牌机构存管资金，兼顾资金安全与操作便捷性。</a:t>
            </a:r>
            <a:endParaRPr lang="en-US" sz="15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12700000" y="-12700000"/>
            <a:ext cx="12700" cy="12700"/>
          </a:xfrm>
          <a:prstGeom prst="roundRect">
            <a:avLst>
              <a:gd name="adj" fmla="val 800000"/>
            </a:avLst>
          </a:prstGeom>
          <a:solidFill>
            <a:srgbClr val="FFFFFF">
              <a:alpha val="0"/>
            </a:srgbClr>
          </a:solidFill>
          <a:ln cap="flat" cmpd="sng">
            <a:solidFill>
              <a:srgbClr val="FFFFFF">
                <a:alpha val="0"/>
              </a:srgbClr>
            </a:solidFill>
            <a:prstDash val="solid"/>
            <a:round/>
          </a:ln>
        </p:spPr>
        <p:txBody>
          <a:bodyPr vert="horz" wrap="square" lIns="0" tIns="0" rIns="0" bIns="0" rtlCol="0" anchor="ctr" anchorCtr="0"/>
          <a:lstStyle/>
          <a:p>
            <a:pPr algn="ctr">
              <a:defRPr/>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09600" y="762000"/>
            <a:ext cx="109728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5. 平台核心优势：构建坚实的护城河（二）</a:t>
            </a:r>
            <a:endParaRPr lang="en-US" sz="1100"/>
          </a:p>
        </p:txBody>
      </p:sp>
      <p:cxnSp>
        <p:nvCxnSpPr>
          <p:cNvPr id="3" name="Connector 3"/>
          <p:cNvCxnSpPr/>
          <p:nvPr/>
        </p:nvCxnSpPr>
        <p:spPr>
          <a:xfrm rot="-4297">
            <a:off x="1016004" y="14668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879600"/>
            <a:ext cx="457200" cy="457200"/>
          </a:xfrm>
          <a:prstGeom prst="rect">
            <a:avLst/>
          </a:prstGeom>
        </p:spPr>
      </p:pic>
      <p:sp>
        <p:nvSpPr>
          <p:cNvPr id="5" name="AutoShape 5"/>
          <p:cNvSpPr/>
          <p:nvPr/>
        </p:nvSpPr>
        <p:spPr>
          <a:xfrm>
            <a:off x="1727200" y="1930400"/>
            <a:ext cx="952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经济模型完整，价值稳健</a:t>
            </a:r>
            <a:endParaRPr lang="en-US" sz="1100"/>
          </a:p>
        </p:txBody>
      </p:sp>
      <p:sp>
        <p:nvSpPr>
          <p:cNvPr id="6" name="AutoShape 6"/>
          <p:cNvSpPr/>
          <p:nvPr/>
        </p:nvSpPr>
        <p:spPr>
          <a:xfrm>
            <a:off x="1727200" y="2387600"/>
            <a:ext cx="9525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以“寄存复利+生态多元”玩法为核心，绑定真实需求抑制炒作，资产价值稳步增长。</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251200"/>
            <a:ext cx="457200" cy="457200"/>
          </a:xfrm>
          <a:prstGeom prst="rect">
            <a:avLst/>
          </a:prstGeom>
        </p:spPr>
      </p:pic>
      <p:sp>
        <p:nvSpPr>
          <p:cNvPr id="8" name="AutoShape 8"/>
          <p:cNvSpPr/>
          <p:nvPr/>
        </p:nvSpPr>
        <p:spPr>
          <a:xfrm>
            <a:off x="1727200" y="3302000"/>
            <a:ext cx="952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生态清晰，数实融合</a:t>
            </a:r>
            <a:endParaRPr lang="en-US" sz="1100"/>
          </a:p>
        </p:txBody>
      </p:sp>
      <p:sp>
        <p:nvSpPr>
          <p:cNvPr id="9" name="AutoShape 9"/>
          <p:cNvSpPr/>
          <p:nvPr/>
        </p:nvSpPr>
        <p:spPr>
          <a:xfrm>
            <a:off x="1727200" y="3759200"/>
            <a:ext cx="9525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构建“数字获取-通宝流转-实体消费”闭环，依托五大模块，摆脱市场情绪驱动。</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622800"/>
            <a:ext cx="457200" cy="457200"/>
          </a:xfrm>
          <a:prstGeom prst="rect">
            <a:avLst/>
          </a:prstGeom>
        </p:spPr>
      </p:pic>
      <p:sp>
        <p:nvSpPr>
          <p:cNvPr id="11" name="AutoShape 11"/>
          <p:cNvSpPr/>
          <p:nvPr/>
        </p:nvSpPr>
        <p:spPr>
          <a:xfrm>
            <a:off x="1727200" y="4673600"/>
            <a:ext cx="952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团队顶尖，资源丰厚</a:t>
            </a:r>
            <a:endParaRPr lang="en-US" sz="1100"/>
          </a:p>
        </p:txBody>
      </p:sp>
      <p:sp>
        <p:nvSpPr>
          <p:cNvPr id="12" name="AutoShape 12"/>
          <p:cNvSpPr/>
          <p:nvPr/>
        </p:nvSpPr>
        <p:spPr>
          <a:xfrm>
            <a:off x="1727200" y="5130800"/>
            <a:ext cx="9525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团队操盘过Ibox、唯一艺术等顶级平台，依托省文投实现“体育+文旅”跨界布局。</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228600"/>
            <a:ext cx="10668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6. 平台团队介绍</a:t>
            </a:r>
            <a:endParaRPr lang="en-US" sz="1100"/>
          </a:p>
        </p:txBody>
      </p:sp>
      <p:cxnSp>
        <p:nvCxnSpPr>
          <p:cNvPr id="3" name="Connector 3"/>
          <p:cNvCxnSpPr/>
          <p:nvPr/>
        </p:nvCxnSpPr>
        <p:spPr>
          <a:xfrm rot="-4092">
            <a:off x="762004" y="16700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930400"/>
            <a:ext cx="304800" cy="304800"/>
          </a:xfrm>
          <a:prstGeom prst="rect">
            <a:avLst/>
          </a:prstGeom>
        </p:spPr>
      </p:pic>
      <p:sp>
        <p:nvSpPr>
          <p:cNvPr id="5" name="AutoShape 5"/>
          <p:cNvSpPr/>
          <p:nvPr/>
        </p:nvSpPr>
        <p:spPr>
          <a:xfrm>
            <a:off x="1193800" y="19050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“唯一艺术”团队</a:t>
            </a:r>
            <a:endParaRPr lang="en-US" sz="1100"/>
          </a:p>
        </p:txBody>
      </p:sp>
      <p:sp>
        <p:nvSpPr>
          <p:cNvPr id="6" name="AutoShape 6"/>
          <p:cNvSpPr/>
          <p:nvPr/>
        </p:nvSpPr>
        <p:spPr>
          <a:xfrm>
            <a:off x="762000" y="2387600"/>
            <a:ext cx="5080000" cy="1397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由中国数字艺术、数字版权与区块链资产领域的资深创业者佟世天带领唯一艺术团队，全面负责国文汇通的战略规划与创新发展，致力于推动文化资产的数字化转型与数字文化资产产业生态建设。</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8400" y="1930400"/>
            <a:ext cx="304800" cy="304800"/>
          </a:xfrm>
          <a:prstGeom prst="rect">
            <a:avLst/>
          </a:prstGeom>
        </p:spPr>
      </p:pic>
      <p:sp>
        <p:nvSpPr>
          <p:cNvPr id="8" name="AutoShape 8"/>
          <p:cNvSpPr/>
          <p:nvPr/>
        </p:nvSpPr>
        <p:spPr>
          <a:xfrm>
            <a:off x="6680200" y="19050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“IBOX”团队</a:t>
            </a:r>
            <a:endParaRPr lang="en-US" sz="1100"/>
          </a:p>
        </p:txBody>
      </p:sp>
      <p:sp>
        <p:nvSpPr>
          <p:cNvPr id="9" name="AutoShape 9"/>
          <p:cNvSpPr/>
          <p:nvPr/>
        </p:nvSpPr>
        <p:spPr>
          <a:xfrm>
            <a:off x="6248400" y="2387600"/>
            <a:ext cx="5181600" cy="1651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由原 IBOX 平台总运营“喜鹊”领衔，IBOX核心团队全面负责国文汇通的运营体系与生态建设，专注于平台增长策略、用户体系打造与生态协同发展。曾推动IBOX市值超百亿元、单日交易额近20亿元，能为国文汇通带来成熟的增长经验与模型。</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00000" y="-12700000"/>
            <a:ext cx="12700" cy="12700"/>
          </a:xfrm>
          <a:prstGeom prst="rect">
            <a:avLst/>
          </a:prstGeom>
        </p:spPr>
      </p:pic>
      <p:sp>
        <p:nvSpPr>
          <p:cNvPr id="11" name="AutoShape 11"/>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p>
        </p:txBody>
      </p:sp>
      <p:sp>
        <p:nvSpPr>
          <p:cNvPr id="12" name="AutoShape 12"/>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p>
        </p:txBody>
      </p:sp>
      <p:cxnSp>
        <p:nvCxnSpPr>
          <p:cNvPr id="13" name="Connector 13"/>
          <p:cNvCxnSpPr/>
          <p:nvPr/>
        </p:nvCxnSpPr>
        <p:spPr>
          <a:xfrm rot="-2700000">
            <a:off x="2630" y="-6350"/>
            <a:ext cx="12700" cy="12700"/>
          </a:xfrm>
          <a:prstGeom prst="straightConnector1">
            <a:avLst/>
          </a:prstGeom>
          <a:solidFill>
            <a:srgbClr val="DEE0E3">
              <a:alpha val="100000"/>
            </a:srgbClr>
          </a:solidFill>
          <a:ln w="25400" cap="flat" cmpd="sng">
            <a:solidFill>
              <a:srgbClr val="2B2F36">
                <a:alpha val="100000"/>
              </a:srgbClr>
            </a:solidFill>
            <a:prstDash val="solid"/>
            <a:round/>
            <a:headEnd type="none" w="lg" len="lg"/>
            <a:tailEnd type="none" w="lg" len="lg"/>
          </a:ln>
        </p:spPr>
      </p:cxnSp>
      <p:sp>
        <p:nvSpPr>
          <p:cNvPr id="14" name="AutoShape 14"/>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p>
        </p:txBody>
      </p:sp>
      <p:pic>
        <p:nvPicPr>
          <p:cNvPr id="15" name="Picture 1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4216400"/>
            <a:ext cx="304800" cy="304800"/>
          </a:xfrm>
          <a:prstGeom prst="rect">
            <a:avLst/>
          </a:prstGeom>
        </p:spPr>
      </p:pic>
      <p:sp>
        <p:nvSpPr>
          <p:cNvPr id="16" name="AutoShape 16"/>
          <p:cNvSpPr/>
          <p:nvPr/>
        </p:nvSpPr>
        <p:spPr>
          <a:xfrm>
            <a:off x="1193800" y="41910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CMO首席宣传官 Jeff</a:t>
            </a:r>
            <a:endParaRPr lang="en-US" sz="1100"/>
          </a:p>
        </p:txBody>
      </p:sp>
      <p:sp>
        <p:nvSpPr>
          <p:cNvPr id="17" name="AutoShape 17"/>
          <p:cNvSpPr/>
          <p:nvPr/>
        </p:nvSpPr>
        <p:spPr>
          <a:xfrm>
            <a:off x="762000" y="4673600"/>
            <a:ext cx="10668000" cy="1143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国文汇通首席宣传官，链大教育创始人、Cardano 亚洲增长负责人，首席培训行业博鳌峰会亚洲八大讲师。长期深耕数字经济与区块链教育领域，专注品牌战略、产业传播与人才培养体系建设，推动相关项目在亚洲市场落地与增长。</a:t>
            </a:r>
            <a:endParaRPr lang="en-US" sz="1100"/>
          </a:p>
        </p:txBody>
      </p:sp>
      <p:sp>
        <p:nvSpPr>
          <p:cNvPr id="18" name="AutoShape 18"/>
          <p:cNvSpPr/>
          <p:nvPr/>
        </p:nvSpPr>
        <p:spPr>
          <a:xfrm>
            <a:off x="762000" y="1016000"/>
            <a:ext cx="10668000" cy="5588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核心团队拥有丰富的数字艺术与区块链资产化运营经验，是国内最早布局数字文化资产的专业团队。</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60400"/>
            <a:ext cx="825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7. 平台战略资源</a:t>
            </a:r>
            <a:endParaRPr lang="en-US" sz="1100"/>
          </a:p>
        </p:txBody>
      </p:sp>
      <p:cxnSp>
        <p:nvCxnSpPr>
          <p:cNvPr id="3" name="Connector 3"/>
          <p:cNvCxnSpPr/>
          <p:nvPr/>
        </p:nvCxnSpPr>
        <p:spPr>
          <a:xfrm rot="-4297">
            <a:off x="1016004" y="14541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1778000"/>
            <a:ext cx="4826000" cy="1905000"/>
          </a:xfrm>
          <a:prstGeom prst="roundRect">
            <a:avLst>
              <a:gd name="adj" fmla="val 533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2032000"/>
            <a:ext cx="304800" cy="304800"/>
          </a:xfrm>
          <a:prstGeom prst="rect">
            <a:avLst/>
          </a:prstGeom>
        </p:spPr>
      </p:pic>
      <p:sp>
        <p:nvSpPr>
          <p:cNvPr id="6" name="AutoShape 6"/>
          <p:cNvSpPr/>
          <p:nvPr/>
        </p:nvSpPr>
        <p:spPr>
          <a:xfrm>
            <a:off x="1727200" y="20320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交易所资源</a:t>
            </a:r>
            <a:endParaRPr lang="en-US" sz="1100"/>
          </a:p>
        </p:txBody>
      </p:sp>
      <p:sp>
        <p:nvSpPr>
          <p:cNvPr id="7" name="AutoShape 7"/>
          <p:cNvSpPr/>
          <p:nvPr/>
        </p:nvSpPr>
        <p:spPr>
          <a:xfrm>
            <a:off x="1270000" y="2463800"/>
            <a:ext cx="406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战略合作，平台资源对接</a:t>
            </a:r>
            <a:endParaRPr lang="en-US" sz="1100"/>
          </a:p>
        </p:txBody>
      </p:sp>
      <p:sp>
        <p:nvSpPr>
          <p:cNvPr id="8" name="AutoShape 8"/>
          <p:cNvSpPr/>
          <p:nvPr/>
        </p:nvSpPr>
        <p:spPr>
          <a:xfrm>
            <a:off x="1270000" y="2844800"/>
            <a:ext cx="4064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江苏、四川、甘肃、安徽等省级文交所</a:t>
            </a:r>
            <a:endParaRPr lang="en-US" sz="1100"/>
          </a:p>
        </p:txBody>
      </p:sp>
      <p:sp>
        <p:nvSpPr>
          <p:cNvPr id="9" name="AutoShape 9"/>
          <p:cNvSpPr/>
          <p:nvPr/>
        </p:nvSpPr>
        <p:spPr>
          <a:xfrm>
            <a:off x="6350000" y="1778000"/>
            <a:ext cx="4826000" cy="1905000"/>
          </a:xfrm>
          <a:prstGeom prst="roundRect">
            <a:avLst>
              <a:gd name="adj" fmla="val 533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032000"/>
            <a:ext cx="304800" cy="304800"/>
          </a:xfrm>
          <a:prstGeom prst="rect">
            <a:avLst/>
          </a:prstGeom>
        </p:spPr>
      </p:pic>
      <p:sp>
        <p:nvSpPr>
          <p:cNvPr id="11" name="AutoShape 11"/>
          <p:cNvSpPr/>
          <p:nvPr/>
        </p:nvSpPr>
        <p:spPr>
          <a:xfrm>
            <a:off x="7061200" y="20320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股东资源</a:t>
            </a:r>
            <a:endParaRPr lang="en-US" sz="1100"/>
          </a:p>
        </p:txBody>
      </p:sp>
      <p:sp>
        <p:nvSpPr>
          <p:cNvPr id="12" name="AutoShape 12"/>
          <p:cNvSpPr/>
          <p:nvPr/>
        </p:nvSpPr>
        <p:spPr>
          <a:xfrm>
            <a:off x="6604000" y="2463800"/>
            <a:ext cx="406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虚实结合，实体权益体系支撑</a:t>
            </a:r>
            <a:endParaRPr lang="en-US" sz="1100"/>
          </a:p>
        </p:txBody>
      </p:sp>
      <p:sp>
        <p:nvSpPr>
          <p:cNvPr id="13" name="AutoShape 13"/>
          <p:cNvSpPr/>
          <p:nvPr/>
        </p:nvSpPr>
        <p:spPr>
          <a:xfrm>
            <a:off x="6604000" y="2844800"/>
            <a:ext cx="4064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江苏文投、凤凰出版、省演艺、省广电等</a:t>
            </a:r>
            <a:endParaRPr lang="en-US" sz="1100"/>
          </a:p>
        </p:txBody>
      </p:sp>
      <p:sp>
        <p:nvSpPr>
          <p:cNvPr id="14" name="AutoShape 14"/>
          <p:cNvSpPr/>
          <p:nvPr/>
        </p:nvSpPr>
        <p:spPr>
          <a:xfrm>
            <a:off x="1016000" y="3937000"/>
            <a:ext cx="4826000" cy="1905000"/>
          </a:xfrm>
          <a:prstGeom prst="roundRect">
            <a:avLst>
              <a:gd name="adj" fmla="val 533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0000" y="4191000"/>
            <a:ext cx="304800" cy="304800"/>
          </a:xfrm>
          <a:prstGeom prst="rect">
            <a:avLst/>
          </a:prstGeom>
        </p:spPr>
      </p:pic>
      <p:sp>
        <p:nvSpPr>
          <p:cNvPr id="16" name="AutoShape 16"/>
          <p:cNvSpPr/>
          <p:nvPr/>
        </p:nvSpPr>
        <p:spPr>
          <a:xfrm>
            <a:off x="1727200" y="41910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跨区域文旅局资源</a:t>
            </a:r>
            <a:endParaRPr lang="en-US" sz="1100"/>
          </a:p>
        </p:txBody>
      </p:sp>
      <p:sp>
        <p:nvSpPr>
          <p:cNvPr id="17" name="AutoShape 17"/>
          <p:cNvSpPr/>
          <p:nvPr/>
        </p:nvSpPr>
        <p:spPr>
          <a:xfrm>
            <a:off x="1270000" y="4622800"/>
            <a:ext cx="406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地方资源转化为国家平台优势</a:t>
            </a:r>
            <a:endParaRPr lang="en-US" sz="1100"/>
          </a:p>
        </p:txBody>
      </p:sp>
      <p:sp>
        <p:nvSpPr>
          <p:cNvPr id="18" name="AutoShape 18"/>
          <p:cNvSpPr/>
          <p:nvPr/>
        </p:nvSpPr>
        <p:spPr>
          <a:xfrm>
            <a:off x="1270000" y="5003800"/>
            <a:ext cx="4064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重点合作：福建泉州市文旅局</a:t>
            </a:r>
            <a:endParaRPr lang="en-US" sz="1100"/>
          </a:p>
        </p:txBody>
      </p:sp>
      <p:sp>
        <p:nvSpPr>
          <p:cNvPr id="19" name="AutoShape 19"/>
          <p:cNvSpPr/>
          <p:nvPr/>
        </p:nvSpPr>
        <p:spPr>
          <a:xfrm>
            <a:off x="6350000" y="3937000"/>
            <a:ext cx="4826000" cy="1905000"/>
          </a:xfrm>
          <a:prstGeom prst="roundRect">
            <a:avLst>
              <a:gd name="adj" fmla="val 533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4191000"/>
            <a:ext cx="304800" cy="304800"/>
          </a:xfrm>
          <a:prstGeom prst="rect">
            <a:avLst/>
          </a:prstGeom>
        </p:spPr>
      </p:pic>
      <p:sp>
        <p:nvSpPr>
          <p:cNvPr id="21" name="AutoShape 21"/>
          <p:cNvSpPr/>
          <p:nvPr/>
        </p:nvSpPr>
        <p:spPr>
          <a:xfrm>
            <a:off x="7061200" y="41910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合作品牌资源</a:t>
            </a:r>
            <a:endParaRPr lang="en-US" sz="1100"/>
          </a:p>
        </p:txBody>
      </p:sp>
      <p:sp>
        <p:nvSpPr>
          <p:cNvPr id="22" name="AutoShape 22"/>
          <p:cNvSpPr/>
          <p:nvPr/>
        </p:nvSpPr>
        <p:spPr>
          <a:xfrm>
            <a:off x="6604000" y="4622800"/>
            <a:ext cx="406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构建高质量内容供给矩阵</a:t>
            </a:r>
            <a:endParaRPr lang="en-US" sz="1100"/>
          </a:p>
        </p:txBody>
      </p:sp>
      <p:sp>
        <p:nvSpPr>
          <p:cNvPr id="23" name="AutoShape 23"/>
          <p:cNvSpPr/>
          <p:nvPr/>
        </p:nvSpPr>
        <p:spPr>
          <a:xfrm>
            <a:off x="6604000" y="5003800"/>
            <a:ext cx="4064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凤凰出版、泉州木偶剧院、紫金文创等</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064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8. 平台介绍：“一体两翼三维四域”生态模型（一）</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762000" y="1524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一体：国家文化数据中枢</a:t>
            </a:r>
            <a:endParaRPr lang="en-US" sz="1100"/>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2095500"/>
            <a:ext cx="508000" cy="508000"/>
          </a:xfrm>
          <a:prstGeom prst="rect">
            <a:avLst/>
          </a:prstGeom>
        </p:spPr>
      </p:pic>
      <p:sp>
        <p:nvSpPr>
          <p:cNvPr id="6" name="AutoShape 6"/>
          <p:cNvSpPr/>
          <p:nvPr/>
        </p:nvSpPr>
        <p:spPr>
          <a:xfrm>
            <a:off x="1460500" y="2095500"/>
            <a:ext cx="4445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连接国家文化大数据体系与市场，汇聚权威文化数字资源，进行标准化的确权、登记、评估与发行。</a:t>
            </a:r>
            <a:endParaRPr lang="en-US" sz="1100"/>
          </a:p>
        </p:txBody>
      </p:sp>
      <p:cxnSp>
        <p:nvCxnSpPr>
          <p:cNvPr id="7" name="Connector 7"/>
          <p:cNvCxnSpPr/>
          <p:nvPr/>
        </p:nvCxnSpPr>
        <p:spPr>
          <a:xfrm rot="5379778">
            <a:off x="5016500" y="2597169"/>
            <a:ext cx="2159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8" name="AutoShape 8"/>
          <p:cNvSpPr/>
          <p:nvPr/>
        </p:nvSpPr>
        <p:spPr>
          <a:xfrm>
            <a:off x="6477000" y="1524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两翼：标准与信任</a:t>
            </a:r>
            <a:endParaRPr lang="en-US" sz="1100"/>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2095500"/>
            <a:ext cx="304800" cy="304800"/>
          </a:xfrm>
          <a:prstGeom prst="rect">
            <a:avLst/>
          </a:prstGeom>
        </p:spPr>
      </p:pic>
      <p:sp>
        <p:nvSpPr>
          <p:cNvPr id="10" name="AutoShape 10"/>
          <p:cNvSpPr/>
          <p:nvPr/>
        </p:nvSpPr>
        <p:spPr>
          <a:xfrm>
            <a:off x="6921500" y="20955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标准翼</a:t>
            </a:r>
            <a:endParaRPr lang="en-US" sz="1100"/>
          </a:p>
        </p:txBody>
      </p:sp>
      <p:sp>
        <p:nvSpPr>
          <p:cNvPr id="11" name="AutoShape 11"/>
          <p:cNvSpPr/>
          <p:nvPr/>
        </p:nvSpPr>
        <p:spPr>
          <a:xfrm>
            <a:off x="6921500" y="24765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制定文化数字资产全流程行业标准，掌握发展话语权。</a:t>
            </a:r>
            <a:endParaRPr lang="en-US" sz="1100"/>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3111500"/>
            <a:ext cx="304800" cy="304800"/>
          </a:xfrm>
          <a:prstGeom prst="rect">
            <a:avLst/>
          </a:prstGeom>
        </p:spPr>
      </p:pic>
      <p:sp>
        <p:nvSpPr>
          <p:cNvPr id="13" name="AutoShape 13"/>
          <p:cNvSpPr/>
          <p:nvPr/>
        </p:nvSpPr>
        <p:spPr>
          <a:xfrm>
            <a:off x="6921500" y="31115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信任翼</a:t>
            </a:r>
            <a:endParaRPr lang="en-US" sz="1100"/>
          </a:p>
        </p:txBody>
      </p:sp>
      <p:sp>
        <p:nvSpPr>
          <p:cNvPr id="14" name="AutoShape 14"/>
          <p:cNvSpPr/>
          <p:nvPr/>
        </p:nvSpPr>
        <p:spPr>
          <a:xfrm>
            <a:off x="6921500" y="34925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融合前沿技术，构建跨平台、可互信的技术基座。</a:t>
            </a:r>
            <a:endParaRPr lang="en-US" sz="1100"/>
          </a:p>
        </p:txBody>
      </p:sp>
      <p:sp>
        <p:nvSpPr>
          <p:cNvPr id="15" name="AutoShape 15"/>
          <p:cNvSpPr/>
          <p:nvPr/>
        </p:nvSpPr>
        <p:spPr>
          <a:xfrm>
            <a:off x="762000" y="4318000"/>
            <a:ext cx="10668000" cy="1143000"/>
          </a:xfrm>
          <a:prstGeom prst="roundRect">
            <a:avLst>
              <a:gd name="adj" fmla="val 8888"/>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711700"/>
            <a:ext cx="355600" cy="355600"/>
          </a:xfrm>
          <a:prstGeom prst="rect">
            <a:avLst/>
          </a:prstGeom>
        </p:spPr>
      </p:pic>
      <p:sp>
        <p:nvSpPr>
          <p:cNvPr id="17" name="AutoShape 17"/>
          <p:cNvSpPr/>
          <p:nvPr/>
        </p:nvSpPr>
        <p:spPr>
          <a:xfrm>
            <a:off x="1587500" y="4572000"/>
            <a:ext cx="952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endParaRPr lang="en-US" sz="1100"/>
          </a:p>
        </p:txBody>
      </p:sp>
      <p:sp>
        <p:nvSpPr>
          <p:cNvPr id="18" name="AutoShape 18"/>
          <p:cNvSpPr/>
          <p:nvPr/>
        </p:nvSpPr>
        <p:spPr>
          <a:xfrm>
            <a:off x="1587500" y="4953000"/>
            <a:ext cx="9525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以中枢为核心，以标准和信任为保障，构建健康、繁荣的文化数字资产新生态。</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318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9. 平台介绍：“一体两翼三维四域”生态模型（二）</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762000" y="1524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三维：数据-平台-场景</a:t>
            </a:r>
            <a:endParaRPr lang="en-US" sz="1100"/>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2082800"/>
            <a:ext cx="355600" cy="355600"/>
          </a:xfrm>
          <a:prstGeom prst="rect">
            <a:avLst/>
          </a:prstGeom>
        </p:spPr>
      </p:pic>
      <p:sp>
        <p:nvSpPr>
          <p:cNvPr id="6" name="AutoShape 6"/>
          <p:cNvSpPr/>
          <p:nvPr/>
        </p:nvSpPr>
        <p:spPr>
          <a:xfrm>
            <a:off x="1270000" y="21082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数据层</a:t>
            </a:r>
            <a:endParaRPr lang="en-US" sz="1100"/>
          </a:p>
        </p:txBody>
      </p:sp>
      <p:sp>
        <p:nvSpPr>
          <p:cNvPr id="7" name="AutoShape 7"/>
          <p:cNvSpPr/>
          <p:nvPr/>
        </p:nvSpPr>
        <p:spPr>
          <a:xfrm>
            <a:off x="1270000" y="24638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汇聚“珍资源”、“活资源”与“潮资源”，构建海量数字资产库。</a:t>
            </a:r>
            <a:endParaRPr lang="en-US" sz="1100"/>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3276600"/>
            <a:ext cx="355600" cy="355600"/>
          </a:xfrm>
          <a:prstGeom prst="rect">
            <a:avLst/>
          </a:prstGeom>
        </p:spPr>
      </p:pic>
      <p:sp>
        <p:nvSpPr>
          <p:cNvPr id="9" name="AutoShape 9"/>
          <p:cNvSpPr/>
          <p:nvPr/>
        </p:nvSpPr>
        <p:spPr>
          <a:xfrm>
            <a:off x="1270000" y="3302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平台层</a:t>
            </a:r>
            <a:endParaRPr lang="en-US" sz="1100"/>
          </a:p>
        </p:txBody>
      </p:sp>
      <p:sp>
        <p:nvSpPr>
          <p:cNvPr id="10" name="AutoShape 10"/>
          <p:cNvSpPr/>
          <p:nvPr/>
        </p:nvSpPr>
        <p:spPr>
          <a:xfrm>
            <a:off x="1270000" y="36576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提供数据要素市场、发行服务平台、创意集市等多元化服务。</a:t>
            </a:r>
            <a:endParaRPr lang="en-US" sz="1100"/>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4470400"/>
            <a:ext cx="355600" cy="355600"/>
          </a:xfrm>
          <a:prstGeom prst="rect">
            <a:avLst/>
          </a:prstGeom>
        </p:spPr>
      </p:pic>
      <p:sp>
        <p:nvSpPr>
          <p:cNvPr id="12" name="AutoShape 12"/>
          <p:cNvSpPr/>
          <p:nvPr/>
        </p:nvSpPr>
        <p:spPr>
          <a:xfrm>
            <a:off x="1270000" y="44958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场景层</a:t>
            </a:r>
            <a:endParaRPr lang="en-US" sz="1100"/>
          </a:p>
        </p:txBody>
      </p:sp>
      <p:sp>
        <p:nvSpPr>
          <p:cNvPr id="13" name="AutoShape 13"/>
          <p:cNvSpPr/>
          <p:nvPr/>
        </p:nvSpPr>
        <p:spPr>
          <a:xfrm>
            <a:off x="1270000" y="48514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嵌入文博、商业、城市空间，实现数据价值的最终兑现。</a:t>
            </a:r>
            <a:endParaRPr lang="en-US" sz="1100"/>
          </a:p>
        </p:txBody>
      </p:sp>
      <p:cxnSp>
        <p:nvCxnSpPr>
          <p:cNvPr id="14" name="Connector 14"/>
          <p:cNvCxnSpPr/>
          <p:nvPr/>
        </p:nvCxnSpPr>
        <p:spPr>
          <a:xfrm rot="5388910">
            <a:off x="4127500" y="3486160"/>
            <a:ext cx="3937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5" name="AutoShape 15"/>
          <p:cNvSpPr/>
          <p:nvPr/>
        </p:nvSpPr>
        <p:spPr>
          <a:xfrm>
            <a:off x="6477000" y="1524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四域：深耕核心领域</a:t>
            </a:r>
            <a:endParaRPr lang="en-US" sz="1100"/>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2082800"/>
            <a:ext cx="304800" cy="304800"/>
          </a:xfrm>
          <a:prstGeom prst="rect">
            <a:avLst/>
          </a:prstGeom>
        </p:spPr>
      </p:pic>
      <p:sp>
        <p:nvSpPr>
          <p:cNvPr id="17" name="AutoShape 17"/>
          <p:cNvSpPr/>
          <p:nvPr/>
        </p:nvSpPr>
        <p:spPr>
          <a:xfrm>
            <a:off x="6934200" y="21082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文博典藏·数字永生</a:t>
            </a:r>
            <a:endParaRPr lang="en-US" sz="1100"/>
          </a:p>
        </p:txBody>
      </p:sp>
      <p:sp>
        <p:nvSpPr>
          <p:cNvPr id="18" name="AutoShape 18"/>
          <p:cNvSpPr/>
          <p:nvPr/>
        </p:nvSpPr>
        <p:spPr>
          <a:xfrm>
            <a:off x="6934200" y="24638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文物高精度数字化，发行数字资产，实现文化价值再生。</a:t>
            </a:r>
            <a:endParaRPr lang="en-US" sz="1100"/>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3276600"/>
            <a:ext cx="304800" cy="304800"/>
          </a:xfrm>
          <a:prstGeom prst="rect">
            <a:avLst/>
          </a:prstGeom>
        </p:spPr>
      </p:pic>
      <p:sp>
        <p:nvSpPr>
          <p:cNvPr id="20" name="AutoShape 20"/>
          <p:cNvSpPr/>
          <p:nvPr/>
        </p:nvSpPr>
        <p:spPr>
          <a:xfrm>
            <a:off x="6934200" y="3302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非遗活化·产业赋能</a:t>
            </a:r>
            <a:endParaRPr lang="en-US" sz="1100"/>
          </a:p>
        </p:txBody>
      </p:sp>
      <p:sp>
        <p:nvSpPr>
          <p:cNvPr id="21" name="AutoShape 21"/>
          <p:cNvSpPr/>
          <p:nvPr/>
        </p:nvSpPr>
        <p:spPr>
          <a:xfrm>
            <a:off x="6934200" y="36576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技艺数字化，助力非遗传承与商业化发展。</a:t>
            </a:r>
            <a:endParaRPr lang="en-US" sz="1100"/>
          </a:p>
        </p:txBody>
      </p:sp>
      <p:pic>
        <p:nvPicPr>
          <p:cNvPr id="22" name="Picture 2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77000" y="4470400"/>
            <a:ext cx="304800" cy="304800"/>
          </a:xfrm>
          <a:prstGeom prst="rect">
            <a:avLst/>
          </a:prstGeom>
        </p:spPr>
      </p:pic>
      <p:sp>
        <p:nvSpPr>
          <p:cNvPr id="23" name="AutoShape 23"/>
          <p:cNvSpPr/>
          <p:nvPr/>
        </p:nvSpPr>
        <p:spPr>
          <a:xfrm>
            <a:off x="6934200" y="44958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文旅融合·虚实互促</a:t>
            </a:r>
            <a:endParaRPr lang="en-US" sz="1100"/>
          </a:p>
        </p:txBody>
      </p:sp>
      <p:sp>
        <p:nvSpPr>
          <p:cNvPr id="24" name="AutoShape 24"/>
          <p:cNvSpPr/>
          <p:nvPr/>
        </p:nvSpPr>
        <p:spPr>
          <a:xfrm>
            <a:off x="6934200" y="48514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打造“数字资产+线下消费”新模式，提升文旅产业附加值。</a:t>
            </a:r>
            <a:endParaRPr lang="en-US" sz="1100"/>
          </a:p>
        </p:txBody>
      </p:sp>
      <p:cxnSp>
        <p:nvCxnSpPr>
          <p:cNvPr id="25" name="Connector 25"/>
          <p:cNvCxnSpPr/>
          <p:nvPr/>
        </p:nvCxnSpPr>
        <p:spPr>
          <a:xfrm rot="-4092">
            <a:off x="762004" y="5708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6" name="AutoShape 26"/>
          <p:cNvSpPr/>
          <p:nvPr/>
        </p:nvSpPr>
        <p:spPr>
          <a:xfrm>
            <a:off x="762000" y="5918200"/>
            <a:ext cx="10668000" cy="279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从数据采集到场景应用，我们在四大核心领域深耕细作，将生态模型转化为业务成果。</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31800"/>
            <a:ext cx="825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0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10. 商业模式：生态与经济模型</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762000" y="1524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核心资产</a:t>
            </a:r>
            <a:endParaRPr lang="en-US" sz="1100"/>
          </a:p>
        </p:txBody>
      </p:sp>
      <p:sp>
        <p:nvSpPr>
          <p:cNvPr id="5" name="AutoShape 5"/>
          <p:cNvSpPr/>
          <p:nvPr/>
        </p:nvSpPr>
        <p:spPr>
          <a:xfrm>
            <a:off x="762000" y="2032000"/>
            <a:ext cx="5080000" cy="1143000"/>
          </a:xfrm>
          <a:prstGeom prst="roundRect">
            <a:avLst>
              <a:gd name="adj" fmla="val 888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65200" y="2235200"/>
            <a:ext cx="304800" cy="304800"/>
          </a:xfrm>
          <a:prstGeom prst="rect">
            <a:avLst/>
          </a:prstGeom>
        </p:spPr>
      </p:pic>
      <p:sp>
        <p:nvSpPr>
          <p:cNvPr id="7" name="AutoShape 7"/>
          <p:cNvSpPr/>
          <p:nvPr/>
        </p:nvSpPr>
        <p:spPr>
          <a:xfrm>
            <a:off x="1422400" y="22479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国文通卷</a:t>
            </a:r>
            <a:endParaRPr lang="en-US" sz="1100"/>
          </a:p>
        </p:txBody>
      </p:sp>
      <p:sp>
        <p:nvSpPr>
          <p:cNvPr id="8" name="AutoShape 8"/>
          <p:cNvSpPr/>
          <p:nvPr/>
        </p:nvSpPr>
        <p:spPr>
          <a:xfrm>
            <a:off x="1422400" y="2590800"/>
            <a:ext cx="4064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平台基石资产，总量1000万份，象征核心共建者权益。</a:t>
            </a:r>
            <a:endParaRPr lang="en-US" sz="1100"/>
          </a:p>
        </p:txBody>
      </p:sp>
      <p:sp>
        <p:nvSpPr>
          <p:cNvPr id="9" name="AutoShape 9"/>
          <p:cNvSpPr/>
          <p:nvPr/>
        </p:nvSpPr>
        <p:spPr>
          <a:xfrm>
            <a:off x="762000" y="3327400"/>
            <a:ext cx="5080000" cy="1143000"/>
          </a:xfrm>
          <a:prstGeom prst="roundRect">
            <a:avLst>
              <a:gd name="adj" fmla="val 888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65200" y="3530600"/>
            <a:ext cx="304800" cy="304800"/>
          </a:xfrm>
          <a:prstGeom prst="rect">
            <a:avLst/>
          </a:prstGeom>
        </p:spPr>
      </p:pic>
      <p:sp>
        <p:nvSpPr>
          <p:cNvPr id="11" name="AutoShape 11"/>
          <p:cNvSpPr/>
          <p:nvPr/>
        </p:nvSpPr>
        <p:spPr>
          <a:xfrm>
            <a:off x="1422400" y="35433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“国文通宝”</a:t>
            </a:r>
            <a:endParaRPr lang="en-US" sz="1100"/>
          </a:p>
        </p:txBody>
      </p:sp>
      <p:sp>
        <p:nvSpPr>
          <p:cNvPr id="12" name="AutoShape 12"/>
          <p:cNvSpPr/>
          <p:nvPr/>
        </p:nvSpPr>
        <p:spPr>
          <a:xfrm>
            <a:off x="1422400" y="3886200"/>
            <a:ext cx="4064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平台通用积分，总量10亿个，用于生态内价值流转。</a:t>
            </a:r>
            <a:endParaRPr lang="en-US" sz="1100"/>
          </a:p>
        </p:txBody>
      </p:sp>
      <p:cxnSp>
        <p:nvCxnSpPr>
          <p:cNvPr id="13" name="Connector 13"/>
          <p:cNvCxnSpPr/>
          <p:nvPr/>
        </p:nvCxnSpPr>
        <p:spPr>
          <a:xfrm rot="-8594">
            <a:off x="762008" y="4616450"/>
            <a:ext cx="5080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4902200"/>
            <a:ext cx="254000" cy="254000"/>
          </a:xfrm>
          <a:prstGeom prst="rect">
            <a:avLst/>
          </a:prstGeom>
        </p:spPr>
      </p:pic>
      <p:sp>
        <p:nvSpPr>
          <p:cNvPr id="15" name="AutoShape 15"/>
          <p:cNvSpPr/>
          <p:nvPr/>
        </p:nvSpPr>
        <p:spPr>
          <a:xfrm>
            <a:off x="1168400" y="4889500"/>
            <a:ext cx="4699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通胀激励：</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寄存通卷，每日获得通宝奖励。</a:t>
            </a:r>
            <a:endParaRPr lang="en-US" sz="1100"/>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5410200"/>
            <a:ext cx="254000" cy="254000"/>
          </a:xfrm>
          <a:prstGeom prst="rect">
            <a:avLst/>
          </a:prstGeom>
        </p:spPr>
      </p:pic>
      <p:sp>
        <p:nvSpPr>
          <p:cNvPr id="17" name="AutoShape 17"/>
          <p:cNvSpPr/>
          <p:nvPr/>
        </p:nvSpPr>
        <p:spPr>
          <a:xfrm>
            <a:off x="1168400" y="5397500"/>
            <a:ext cx="4699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通缩消耗：</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交易注销、打新消耗、商品兑换等。</a:t>
            </a:r>
            <a:endParaRPr lang="en-US" sz="1100"/>
          </a:p>
        </p:txBody>
      </p:sp>
      <p:cxnSp>
        <p:nvCxnSpPr>
          <p:cNvPr id="18" name="Connector 18"/>
          <p:cNvCxnSpPr/>
          <p:nvPr/>
        </p:nvCxnSpPr>
        <p:spPr>
          <a:xfrm rot="5389889">
            <a:off x="3937000" y="3676659"/>
            <a:ext cx="431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9"/>
          <p:cNvSpPr/>
          <p:nvPr/>
        </p:nvSpPr>
        <p:spPr>
          <a:xfrm>
            <a:off x="6477000" y="1524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价值流转闭环</a:t>
            </a:r>
            <a:endParaRPr lang="en-US" sz="1100"/>
          </a:p>
        </p:txBody>
      </p:sp>
      <p:sp>
        <p:nvSpPr>
          <p:cNvPr id="20" name="AutoShape 20"/>
          <p:cNvSpPr/>
          <p:nvPr/>
        </p:nvSpPr>
        <p:spPr>
          <a:xfrm>
            <a:off x="6477000" y="2032000"/>
            <a:ext cx="4826000" cy="762000"/>
          </a:xfrm>
          <a:prstGeom prst="roundRect">
            <a:avLst>
              <a:gd name="adj" fmla="val 13333"/>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80200" y="2260600"/>
            <a:ext cx="304800" cy="304800"/>
          </a:xfrm>
          <a:prstGeom prst="rect">
            <a:avLst/>
          </a:prstGeom>
        </p:spPr>
      </p:pic>
      <p:sp>
        <p:nvSpPr>
          <p:cNvPr id="22" name="AutoShape 22"/>
          <p:cNvSpPr/>
          <p:nvPr/>
        </p:nvSpPr>
        <p:spPr>
          <a:xfrm>
            <a:off x="7137400" y="22606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用户寄存《国文通卷》</a:t>
            </a:r>
            <a:endParaRPr lang="en-US" sz="1100"/>
          </a:p>
        </p:txBody>
      </p:sp>
      <p:pic>
        <p:nvPicPr>
          <p:cNvPr id="23" name="Picture 2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737600" y="2895600"/>
            <a:ext cx="304800" cy="304800"/>
          </a:xfrm>
          <a:prstGeom prst="rect">
            <a:avLst/>
          </a:prstGeom>
        </p:spPr>
      </p:pic>
      <p:sp>
        <p:nvSpPr>
          <p:cNvPr id="24" name="AutoShape 24"/>
          <p:cNvSpPr/>
          <p:nvPr/>
        </p:nvSpPr>
        <p:spPr>
          <a:xfrm>
            <a:off x="6477000" y="3302000"/>
            <a:ext cx="4826000" cy="762000"/>
          </a:xfrm>
          <a:prstGeom prst="roundRect">
            <a:avLst>
              <a:gd name="adj" fmla="val 13333"/>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80200" y="3530600"/>
            <a:ext cx="304800" cy="304800"/>
          </a:xfrm>
          <a:prstGeom prst="rect">
            <a:avLst/>
          </a:prstGeom>
        </p:spPr>
      </p:pic>
      <p:sp>
        <p:nvSpPr>
          <p:cNvPr id="26" name="AutoShape 26"/>
          <p:cNvSpPr/>
          <p:nvPr/>
        </p:nvSpPr>
        <p:spPr>
          <a:xfrm>
            <a:off x="7137400" y="35306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获得通宝奖励 (通胀)</a:t>
            </a:r>
            <a:endParaRPr lang="en-US" sz="1100"/>
          </a:p>
        </p:txBody>
      </p:sp>
      <p:pic>
        <p:nvPicPr>
          <p:cNvPr id="27" name="Picture 2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737600" y="4165600"/>
            <a:ext cx="304800" cy="304800"/>
          </a:xfrm>
          <a:prstGeom prst="rect">
            <a:avLst/>
          </a:prstGeom>
        </p:spPr>
      </p:pic>
      <p:sp>
        <p:nvSpPr>
          <p:cNvPr id="28" name="AutoShape 28"/>
          <p:cNvSpPr/>
          <p:nvPr/>
        </p:nvSpPr>
        <p:spPr>
          <a:xfrm>
            <a:off x="6477000" y="4572000"/>
            <a:ext cx="4826000" cy="762000"/>
          </a:xfrm>
          <a:prstGeom prst="roundRect">
            <a:avLst>
              <a:gd name="adj" fmla="val 13333"/>
            </a:avLst>
          </a:prstGeom>
          <a:solidFill>
            <a:srgbClr val="FFFBEB">
              <a:alpha val="100000"/>
            </a:srgbClr>
          </a:solidFill>
          <a:ln w="12700" cap="flat" cmpd="sng">
            <a:solidFill>
              <a:srgbClr val="FEF08A">
                <a:alpha val="100000"/>
              </a:srgbClr>
            </a:solid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80200" y="4800600"/>
            <a:ext cx="304800" cy="304800"/>
          </a:xfrm>
          <a:prstGeom prst="rect">
            <a:avLst/>
          </a:prstGeom>
        </p:spPr>
      </p:pic>
      <p:sp>
        <p:nvSpPr>
          <p:cNvPr id="30" name="AutoShape 30"/>
          <p:cNvSpPr/>
          <p:nvPr/>
        </p:nvSpPr>
        <p:spPr>
          <a:xfrm>
            <a:off x="7137400" y="48006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通宝用于交易、打新、兑换 (流通)</a:t>
            </a:r>
            <a:endParaRPr lang="en-US" sz="1100"/>
          </a:p>
        </p:txBody>
      </p:sp>
      <p:pic>
        <p:nvPicPr>
          <p:cNvPr id="31" name="Picture 3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737600" y="5435600"/>
            <a:ext cx="304800" cy="304800"/>
          </a:xfrm>
          <a:prstGeom prst="rect">
            <a:avLst/>
          </a:prstGeom>
        </p:spPr>
      </p:pic>
      <p:sp>
        <p:nvSpPr>
          <p:cNvPr id="32" name="AutoShape 32"/>
          <p:cNvSpPr/>
          <p:nvPr/>
        </p:nvSpPr>
        <p:spPr>
          <a:xfrm>
            <a:off x="6477000" y="5842000"/>
            <a:ext cx="4826000" cy="762000"/>
          </a:xfrm>
          <a:prstGeom prst="roundRect">
            <a:avLst>
              <a:gd name="adj" fmla="val 13333"/>
            </a:avLst>
          </a:prstGeom>
          <a:solidFill>
            <a:srgbClr val="FEF2F2">
              <a:alpha val="100000"/>
            </a:srgbClr>
          </a:solidFill>
          <a:ln w="12700" cap="flat" cmpd="sng">
            <a:solidFill>
              <a:srgbClr val="FECACA">
                <a:alpha val="100000"/>
              </a:srgbClr>
            </a:solid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680200" y="6070600"/>
            <a:ext cx="304800" cy="304800"/>
          </a:xfrm>
          <a:prstGeom prst="rect">
            <a:avLst/>
          </a:prstGeom>
        </p:spPr>
      </p:pic>
      <p:sp>
        <p:nvSpPr>
          <p:cNvPr id="34" name="AutoShape 34"/>
          <p:cNvSpPr/>
          <p:nvPr/>
        </p:nvSpPr>
        <p:spPr>
          <a:xfrm>
            <a:off x="7137400" y="60706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部分注销，生态价值提升 (通缩)</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60400"/>
            <a:ext cx="825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11. 商业模式：六大通缩机制</a:t>
            </a:r>
            <a:endParaRPr lang="en-US" sz="1100"/>
          </a:p>
        </p:txBody>
      </p:sp>
      <p:cxnSp>
        <p:nvCxnSpPr>
          <p:cNvPr id="3" name="Connector 3"/>
          <p:cNvCxnSpPr/>
          <p:nvPr/>
        </p:nvCxnSpPr>
        <p:spPr>
          <a:xfrm rot="-4297">
            <a:off x="1016004" y="14541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1778000"/>
            <a:ext cx="3302000" cy="1651000"/>
          </a:xfrm>
          <a:prstGeom prst="roundRect">
            <a:avLst>
              <a:gd name="adj" fmla="val 615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19200" y="1981200"/>
            <a:ext cx="304800" cy="304800"/>
          </a:xfrm>
          <a:prstGeom prst="rect">
            <a:avLst/>
          </a:prstGeom>
        </p:spPr>
      </p:pic>
      <p:sp>
        <p:nvSpPr>
          <p:cNvPr id="6" name="AutoShape 6"/>
          <p:cNvSpPr/>
          <p:nvPr/>
        </p:nvSpPr>
        <p:spPr>
          <a:xfrm>
            <a:off x="1676400" y="19812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回收注销</a:t>
            </a:r>
            <a:endParaRPr lang="en-US" sz="1100"/>
          </a:p>
        </p:txBody>
      </p:sp>
      <p:sp>
        <p:nvSpPr>
          <p:cNvPr id="7" name="AutoShape 7"/>
          <p:cNvSpPr/>
          <p:nvPr/>
        </p:nvSpPr>
        <p:spPr>
          <a:xfrm>
            <a:off x="1219200" y="2438400"/>
            <a:ext cx="28956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平台从收益中回收并永久注销通宝，是支撑其价值的核心机制。</a:t>
            </a:r>
            <a:endParaRPr lang="en-US" sz="1100"/>
          </a:p>
        </p:txBody>
      </p:sp>
      <p:sp>
        <p:nvSpPr>
          <p:cNvPr id="8" name="AutoShape 8"/>
          <p:cNvSpPr/>
          <p:nvPr/>
        </p:nvSpPr>
        <p:spPr>
          <a:xfrm>
            <a:off x="4826000" y="1778000"/>
            <a:ext cx="3302000" cy="1651000"/>
          </a:xfrm>
          <a:prstGeom prst="roundRect">
            <a:avLst>
              <a:gd name="adj" fmla="val 615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29200" y="1981200"/>
            <a:ext cx="304800" cy="304800"/>
          </a:xfrm>
          <a:prstGeom prst="rect">
            <a:avLst/>
          </a:prstGeom>
        </p:spPr>
      </p:pic>
      <p:sp>
        <p:nvSpPr>
          <p:cNvPr id="10" name="AutoShape 10"/>
          <p:cNvSpPr/>
          <p:nvPr/>
        </p:nvSpPr>
        <p:spPr>
          <a:xfrm>
            <a:off x="5486400" y="19812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手续费抵扣</a:t>
            </a:r>
            <a:endParaRPr lang="en-US" sz="1100"/>
          </a:p>
        </p:txBody>
      </p:sp>
      <p:sp>
        <p:nvSpPr>
          <p:cNvPr id="11" name="AutoShape 11"/>
          <p:cNvSpPr/>
          <p:nvPr/>
        </p:nvSpPr>
        <p:spPr>
          <a:xfrm>
            <a:off x="5029200" y="2438400"/>
            <a:ext cx="28956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用户可用通宝抵扣交易手续费并享折扣，促进流通与消耗。</a:t>
            </a:r>
            <a:endParaRPr lang="en-US" sz="1100"/>
          </a:p>
        </p:txBody>
      </p:sp>
      <p:sp>
        <p:nvSpPr>
          <p:cNvPr id="12" name="AutoShape 12"/>
          <p:cNvSpPr/>
          <p:nvPr/>
        </p:nvSpPr>
        <p:spPr>
          <a:xfrm>
            <a:off x="8636000" y="1778000"/>
            <a:ext cx="3302000" cy="1651000"/>
          </a:xfrm>
          <a:prstGeom prst="roundRect">
            <a:avLst>
              <a:gd name="adj" fmla="val 615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39200" y="1981200"/>
            <a:ext cx="304800" cy="304800"/>
          </a:xfrm>
          <a:prstGeom prst="rect">
            <a:avLst/>
          </a:prstGeom>
        </p:spPr>
      </p:pic>
      <p:sp>
        <p:nvSpPr>
          <p:cNvPr id="14" name="AutoShape 14"/>
          <p:cNvSpPr/>
          <p:nvPr/>
        </p:nvSpPr>
        <p:spPr>
          <a:xfrm>
            <a:off x="9296400" y="19812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资产发行认证</a:t>
            </a:r>
            <a:endParaRPr lang="en-US" sz="1100"/>
          </a:p>
        </p:txBody>
      </p:sp>
      <p:sp>
        <p:nvSpPr>
          <p:cNvPr id="15" name="AutoShape 15"/>
          <p:cNvSpPr/>
          <p:nvPr/>
        </p:nvSpPr>
        <p:spPr>
          <a:xfrm>
            <a:off x="8839200" y="2438400"/>
            <a:ext cx="28956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发行新资产需支付通宝作为认证费，筛选项目并消耗通宝。</a:t>
            </a:r>
            <a:endParaRPr lang="en-US" sz="1100"/>
          </a:p>
        </p:txBody>
      </p:sp>
      <p:sp>
        <p:nvSpPr>
          <p:cNvPr id="16" name="AutoShape 16"/>
          <p:cNvSpPr/>
          <p:nvPr/>
        </p:nvSpPr>
        <p:spPr>
          <a:xfrm>
            <a:off x="1016000" y="3683000"/>
            <a:ext cx="3302000" cy="1651000"/>
          </a:xfrm>
          <a:prstGeom prst="roundRect">
            <a:avLst>
              <a:gd name="adj" fmla="val 615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19200" y="3886200"/>
            <a:ext cx="304800" cy="304800"/>
          </a:xfrm>
          <a:prstGeom prst="rect">
            <a:avLst/>
          </a:prstGeom>
        </p:spPr>
      </p:pic>
      <p:sp>
        <p:nvSpPr>
          <p:cNvPr id="18" name="AutoShape 18"/>
          <p:cNvSpPr/>
          <p:nvPr/>
        </p:nvSpPr>
        <p:spPr>
          <a:xfrm>
            <a:off x="1676400" y="38862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生态玩法博弈</a:t>
            </a:r>
            <a:endParaRPr lang="en-US" sz="1100"/>
          </a:p>
        </p:txBody>
      </p:sp>
      <p:sp>
        <p:nvSpPr>
          <p:cNvPr id="19" name="AutoShape 19"/>
          <p:cNvSpPr/>
          <p:nvPr/>
        </p:nvSpPr>
        <p:spPr>
          <a:xfrm>
            <a:off x="1219200" y="4343400"/>
            <a:ext cx="28956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通过趣味玩法增加通宝的应用场景与消耗。</a:t>
            </a:r>
            <a:endParaRPr lang="en-US" sz="1100"/>
          </a:p>
        </p:txBody>
      </p:sp>
      <p:sp>
        <p:nvSpPr>
          <p:cNvPr id="20" name="AutoShape 20"/>
          <p:cNvSpPr/>
          <p:nvPr/>
        </p:nvSpPr>
        <p:spPr>
          <a:xfrm>
            <a:off x="4826000" y="3683000"/>
            <a:ext cx="3302000" cy="1651000"/>
          </a:xfrm>
          <a:prstGeom prst="roundRect">
            <a:avLst>
              <a:gd name="adj" fmla="val 615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029200" y="3886200"/>
            <a:ext cx="304800" cy="304800"/>
          </a:xfrm>
          <a:prstGeom prst="rect">
            <a:avLst/>
          </a:prstGeom>
        </p:spPr>
      </p:pic>
      <p:sp>
        <p:nvSpPr>
          <p:cNvPr id="22" name="AutoShape 22"/>
          <p:cNvSpPr/>
          <p:nvPr/>
        </p:nvSpPr>
        <p:spPr>
          <a:xfrm>
            <a:off x="5486400" y="38862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企业入驻门槛</a:t>
            </a:r>
            <a:endParaRPr lang="en-US" sz="1100"/>
          </a:p>
        </p:txBody>
      </p:sp>
      <p:sp>
        <p:nvSpPr>
          <p:cNvPr id="23" name="AutoShape 23"/>
          <p:cNvSpPr/>
          <p:nvPr/>
        </p:nvSpPr>
        <p:spPr>
          <a:xfrm>
            <a:off x="5029200" y="4343400"/>
            <a:ext cx="28956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品牌方需质押通宝作为保证金，确保生态合规运营。</a:t>
            </a:r>
            <a:endParaRPr lang="en-US" sz="1100"/>
          </a:p>
        </p:txBody>
      </p:sp>
      <p:sp>
        <p:nvSpPr>
          <p:cNvPr id="24" name="AutoShape 24"/>
          <p:cNvSpPr/>
          <p:nvPr/>
        </p:nvSpPr>
        <p:spPr>
          <a:xfrm>
            <a:off x="8636000" y="3683000"/>
            <a:ext cx="3302000" cy="1651000"/>
          </a:xfrm>
          <a:prstGeom prst="roundRect">
            <a:avLst>
              <a:gd name="adj" fmla="val 615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839200" y="3886200"/>
            <a:ext cx="304800" cy="304800"/>
          </a:xfrm>
          <a:prstGeom prst="rect">
            <a:avLst/>
          </a:prstGeom>
        </p:spPr>
      </p:pic>
      <p:sp>
        <p:nvSpPr>
          <p:cNvPr id="26" name="AutoShape 26"/>
          <p:cNvSpPr/>
          <p:nvPr/>
        </p:nvSpPr>
        <p:spPr>
          <a:xfrm>
            <a:off x="9296400" y="38862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线下实体兑换</a:t>
            </a:r>
            <a:endParaRPr lang="en-US" sz="1100"/>
          </a:p>
        </p:txBody>
      </p:sp>
      <p:sp>
        <p:nvSpPr>
          <p:cNvPr id="27" name="AutoShape 27"/>
          <p:cNvSpPr/>
          <p:nvPr/>
        </p:nvSpPr>
        <p:spPr>
          <a:xfrm>
            <a:off x="8839200" y="4343400"/>
            <a:ext cx="28956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兑换商品或服务，打通数字资产与实体经济的连接。</a:t>
            </a:r>
            <a:endParaRPr lang="en-US" sz="1100"/>
          </a:p>
        </p:txBody>
      </p:sp>
      <p:cxnSp>
        <p:nvCxnSpPr>
          <p:cNvPr id="28" name="Connector 28"/>
          <p:cNvCxnSpPr/>
          <p:nvPr/>
        </p:nvCxnSpPr>
        <p:spPr>
          <a:xfrm rot="-4297">
            <a:off x="1016004" y="5581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29" name="Picture 29"/>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6000" y="5842000"/>
            <a:ext cx="254000" cy="254000"/>
          </a:xfrm>
          <a:prstGeom prst="rect">
            <a:avLst/>
          </a:prstGeom>
        </p:spPr>
      </p:pic>
      <p:sp>
        <p:nvSpPr>
          <p:cNvPr id="30" name="AutoShape 30"/>
          <p:cNvSpPr/>
          <p:nvPr/>
        </p:nvSpPr>
        <p:spPr>
          <a:xfrm>
            <a:off x="1422400" y="5842000"/>
            <a:ext cx="965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核心总结：</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六大机制共同作用，构成完整的价值闭环，确保“国文通宝”的长期价值稳定。</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09600" y="609600"/>
            <a:ext cx="10972800" cy="660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4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12. 平台经济模型：通胀与通缩的动态平衡</a:t>
            </a:r>
            <a:endParaRPr lang="en-US" sz="1100"/>
          </a:p>
        </p:txBody>
      </p:sp>
      <p:cxnSp>
        <p:nvCxnSpPr>
          <p:cNvPr id="3" name="Connector 3"/>
          <p:cNvCxnSpPr/>
          <p:nvPr/>
        </p:nvCxnSpPr>
        <p:spPr>
          <a:xfrm rot="-4297">
            <a:off x="1016004" y="14668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1778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通胀模块：价值注入与产出</a:t>
            </a:r>
            <a:endParaRPr lang="en-US" sz="1100"/>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336800"/>
            <a:ext cx="304800" cy="304800"/>
          </a:xfrm>
          <a:prstGeom prst="rect">
            <a:avLst/>
          </a:prstGeom>
        </p:spPr>
      </p:pic>
      <p:sp>
        <p:nvSpPr>
          <p:cNvPr id="6" name="AutoShape 6"/>
          <p:cNvSpPr/>
          <p:nvPr/>
        </p:nvSpPr>
        <p:spPr>
          <a:xfrm>
            <a:off x="1524000" y="23495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通卷寄存</a:t>
            </a:r>
            <a:endParaRPr lang="en-US" sz="1100"/>
          </a:p>
        </p:txBody>
      </p:sp>
      <p:sp>
        <p:nvSpPr>
          <p:cNvPr id="7" name="AutoShape 7"/>
          <p:cNvSpPr/>
          <p:nvPr/>
        </p:nvSpPr>
        <p:spPr>
          <a:xfrm>
            <a:off x="1524000" y="26924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用户寄存“国文通卷”获取基础收益，为生态提供初始动力。</a:t>
            </a:r>
            <a:endParaRPr lang="en-US" sz="1100"/>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505200"/>
            <a:ext cx="304800" cy="304800"/>
          </a:xfrm>
          <a:prstGeom prst="rect">
            <a:avLst/>
          </a:prstGeom>
        </p:spPr>
      </p:pic>
      <p:sp>
        <p:nvSpPr>
          <p:cNvPr id="9" name="AutoShape 9"/>
          <p:cNvSpPr/>
          <p:nvPr/>
        </p:nvSpPr>
        <p:spPr>
          <a:xfrm>
            <a:off x="1524000" y="35179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通宝产出</a:t>
            </a:r>
            <a:endParaRPr lang="en-US" sz="1100"/>
          </a:p>
        </p:txBody>
      </p:sp>
      <p:sp>
        <p:nvSpPr>
          <p:cNvPr id="10" name="AutoShape 10"/>
          <p:cNvSpPr/>
          <p:nvPr/>
        </p:nvSpPr>
        <p:spPr>
          <a:xfrm>
            <a:off x="1524000" y="38608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平台每日发放“通宝”作为奖励，注入生态流动性。</a:t>
            </a:r>
            <a:endParaRPr lang="en-US" sz="1100"/>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673600"/>
            <a:ext cx="304800" cy="304800"/>
          </a:xfrm>
          <a:prstGeom prst="rect">
            <a:avLst/>
          </a:prstGeom>
        </p:spPr>
      </p:pic>
      <p:sp>
        <p:nvSpPr>
          <p:cNvPr id="12" name="AutoShape 12"/>
          <p:cNvSpPr/>
          <p:nvPr/>
        </p:nvSpPr>
        <p:spPr>
          <a:xfrm>
            <a:off x="1524000" y="46863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价值注入</a:t>
            </a:r>
            <a:endParaRPr lang="en-US" sz="1100"/>
          </a:p>
        </p:txBody>
      </p:sp>
      <p:sp>
        <p:nvSpPr>
          <p:cNvPr id="13" name="AutoShape 13"/>
          <p:cNvSpPr/>
          <p:nvPr/>
        </p:nvSpPr>
        <p:spPr>
          <a:xfrm>
            <a:off x="1524000" y="50292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为整个经济模型提供初始动力和价值基础。</a:t>
            </a:r>
            <a:endParaRPr lang="en-US" sz="1100"/>
          </a:p>
        </p:txBody>
      </p:sp>
      <p:cxnSp>
        <p:nvCxnSpPr>
          <p:cNvPr id="14" name="Connector 14"/>
          <p:cNvCxnSpPr/>
          <p:nvPr/>
        </p:nvCxnSpPr>
        <p:spPr>
          <a:xfrm rot="5388540">
            <a:off x="4191000" y="3676661"/>
            <a:ext cx="3810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5" name="AutoShape 15"/>
          <p:cNvSpPr/>
          <p:nvPr/>
        </p:nvSpPr>
        <p:spPr>
          <a:xfrm>
            <a:off x="6604000" y="1778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通缩模块：价值捕获与注销</a:t>
            </a:r>
            <a:endParaRPr lang="en-US" sz="1100"/>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2336800"/>
            <a:ext cx="254000" cy="254000"/>
          </a:xfrm>
          <a:prstGeom prst="rect">
            <a:avLst/>
          </a:prstGeom>
        </p:spPr>
      </p:pic>
      <p:sp>
        <p:nvSpPr>
          <p:cNvPr id="17" name="AutoShape 17"/>
          <p:cNvSpPr/>
          <p:nvPr/>
        </p:nvSpPr>
        <p:spPr>
          <a:xfrm>
            <a:off x="7061200" y="23495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持续回收机制</a:t>
            </a:r>
            <a:endParaRPr lang="en-US" sz="1100"/>
          </a:p>
        </p:txBody>
      </p:sp>
      <p:sp>
        <p:nvSpPr>
          <p:cNvPr id="18" name="AutoShape 18"/>
          <p:cNvSpPr/>
          <p:nvPr/>
        </p:nvSpPr>
        <p:spPr>
          <a:xfrm>
            <a:off x="7061200" y="2692400"/>
            <a:ext cx="4318000" cy="25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定期回收并注销“通卷”，提升长期价值。</a:t>
            </a:r>
            <a:endParaRPr lang="en-US" sz="1100"/>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3200400"/>
            <a:ext cx="254000" cy="254000"/>
          </a:xfrm>
          <a:prstGeom prst="rect">
            <a:avLst/>
          </a:prstGeom>
        </p:spPr>
      </p:pic>
      <p:sp>
        <p:nvSpPr>
          <p:cNvPr id="20" name="AutoShape 20"/>
          <p:cNvSpPr/>
          <p:nvPr/>
        </p:nvSpPr>
        <p:spPr>
          <a:xfrm>
            <a:off x="7061200" y="32131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交易手续费抵扣</a:t>
            </a:r>
            <a:endParaRPr lang="en-US" sz="1100"/>
          </a:p>
        </p:txBody>
      </p:sp>
      <p:sp>
        <p:nvSpPr>
          <p:cNvPr id="21" name="AutoShape 21"/>
          <p:cNvSpPr/>
          <p:nvPr/>
        </p:nvSpPr>
        <p:spPr>
          <a:xfrm>
            <a:off x="7061200" y="3556000"/>
            <a:ext cx="4318000" cy="25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使用“通宝”抵扣交易手续费，促进消耗。</a:t>
            </a:r>
            <a:endParaRPr lang="en-US" sz="1100"/>
          </a:p>
        </p:txBody>
      </p:sp>
      <p:pic>
        <p:nvPicPr>
          <p:cNvPr id="22" name="Picture 2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4064000"/>
            <a:ext cx="254000" cy="254000"/>
          </a:xfrm>
          <a:prstGeom prst="rect">
            <a:avLst/>
          </a:prstGeom>
        </p:spPr>
      </p:pic>
      <p:sp>
        <p:nvSpPr>
          <p:cNvPr id="23" name="AutoShape 23"/>
          <p:cNvSpPr/>
          <p:nvPr/>
        </p:nvSpPr>
        <p:spPr>
          <a:xfrm>
            <a:off x="7061200" y="40767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数字资产发行认证</a:t>
            </a:r>
            <a:endParaRPr lang="en-US" sz="1100"/>
          </a:p>
        </p:txBody>
      </p:sp>
      <p:sp>
        <p:nvSpPr>
          <p:cNvPr id="24" name="AutoShape 24"/>
          <p:cNvSpPr/>
          <p:nvPr/>
        </p:nvSpPr>
        <p:spPr>
          <a:xfrm>
            <a:off x="7061200" y="4419600"/>
            <a:ext cx="4318000" cy="25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项目方发行资产需消耗“通卷”进行认证。</a:t>
            </a:r>
            <a:endParaRPr lang="en-US" sz="1100"/>
          </a:p>
        </p:txBody>
      </p:sp>
      <p:pic>
        <p:nvPicPr>
          <p:cNvPr id="25" name="Picture 25"/>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04000" y="4927600"/>
            <a:ext cx="254000" cy="254000"/>
          </a:xfrm>
          <a:prstGeom prst="rect">
            <a:avLst/>
          </a:prstGeom>
        </p:spPr>
      </p:pic>
      <p:sp>
        <p:nvSpPr>
          <p:cNvPr id="26" name="AutoShape 26"/>
          <p:cNvSpPr/>
          <p:nvPr/>
        </p:nvSpPr>
        <p:spPr>
          <a:xfrm>
            <a:off x="7061200" y="49403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生态多元玩法博弈</a:t>
            </a:r>
            <a:endParaRPr lang="en-US" sz="1100"/>
          </a:p>
        </p:txBody>
      </p:sp>
      <p:sp>
        <p:nvSpPr>
          <p:cNvPr id="27" name="AutoShape 27"/>
          <p:cNvSpPr/>
          <p:nvPr/>
        </p:nvSpPr>
        <p:spPr>
          <a:xfrm>
            <a:off x="7061200" y="5283200"/>
            <a:ext cx="4318000" cy="25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游戏、商城等互动玩法消耗“通宝”。</a:t>
            </a:r>
            <a:endParaRPr lang="en-US" sz="1100"/>
          </a:p>
        </p:txBody>
      </p:sp>
      <p:sp>
        <p:nvSpPr>
          <p:cNvPr id="28" name="AutoShape 28"/>
          <p:cNvSpPr/>
          <p:nvPr/>
        </p:nvSpPr>
        <p:spPr>
          <a:xfrm>
            <a:off x="1016000" y="5842000"/>
            <a:ext cx="1016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通过通胀与通缩的动态平衡，确保生态健康与可持续发展。</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60400"/>
            <a:ext cx="825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13. 生态模型发展路线：三步走战略</a:t>
            </a:r>
            <a:endParaRPr lang="en-US" sz="1100"/>
          </a:p>
        </p:txBody>
      </p:sp>
      <p:cxnSp>
        <p:nvCxnSpPr>
          <p:cNvPr id="3" name="Connector 3"/>
          <p:cNvCxnSpPr/>
          <p:nvPr/>
        </p:nvCxnSpPr>
        <p:spPr>
          <a:xfrm rot="-4297">
            <a:off x="1016004" y="1390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1778000"/>
            <a:ext cx="3302000" cy="3556000"/>
          </a:xfrm>
          <a:prstGeom prst="roundRect">
            <a:avLst>
              <a:gd name="adj" fmla="val 307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2032000"/>
            <a:ext cx="406400" cy="406400"/>
          </a:xfrm>
          <a:prstGeom prst="rect">
            <a:avLst/>
          </a:prstGeom>
        </p:spPr>
      </p:pic>
      <p:sp>
        <p:nvSpPr>
          <p:cNvPr id="6" name="AutoShape 6"/>
          <p:cNvSpPr/>
          <p:nvPr/>
        </p:nvSpPr>
        <p:spPr>
          <a:xfrm>
            <a:off x="1270000" y="2603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阶段一：奠定基石</a:t>
            </a:r>
            <a:endParaRPr lang="en-US" sz="1100"/>
          </a:p>
        </p:txBody>
      </p:sp>
      <p:sp>
        <p:nvSpPr>
          <p:cNvPr id="7" name="AutoShape 7"/>
          <p:cNvSpPr/>
          <p:nvPr/>
        </p:nvSpPr>
        <p:spPr>
          <a:xfrm>
            <a:off x="1270000" y="2984500"/>
            <a:ext cx="279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(1-2年)</a:t>
            </a:r>
            <a:endParaRPr lang="en-US" sz="1100"/>
          </a:p>
        </p:txBody>
      </p:sp>
      <p:sp>
        <p:nvSpPr>
          <p:cNvPr id="8" name="AutoShape 8"/>
          <p:cNvSpPr/>
          <p:nvPr/>
        </p:nvSpPr>
        <p:spPr>
          <a:xfrm>
            <a:off x="1270000" y="3365500"/>
            <a:ext cx="27940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高通缩、低通胀，快速积累早期核心用户，完成平台冷启动。</a:t>
            </a:r>
            <a:endParaRPr lang="en-US" sz="1100"/>
          </a:p>
        </p:txBody>
      </p:sp>
      <p:sp>
        <p:nvSpPr>
          <p:cNvPr id="9" name="AutoShape 9"/>
          <p:cNvSpPr/>
          <p:nvPr/>
        </p:nvSpPr>
        <p:spPr>
          <a:xfrm>
            <a:off x="4445000" y="1778000"/>
            <a:ext cx="3302000" cy="3556000"/>
          </a:xfrm>
          <a:prstGeom prst="roundRect">
            <a:avLst>
              <a:gd name="adj" fmla="val 307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032000"/>
            <a:ext cx="406400" cy="406400"/>
          </a:xfrm>
          <a:prstGeom prst="rect">
            <a:avLst/>
          </a:prstGeom>
        </p:spPr>
      </p:pic>
      <p:sp>
        <p:nvSpPr>
          <p:cNvPr id="11" name="AutoShape 11"/>
          <p:cNvSpPr/>
          <p:nvPr/>
        </p:nvSpPr>
        <p:spPr>
          <a:xfrm>
            <a:off x="4699000" y="2603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阶段二：生态稳健</a:t>
            </a:r>
            <a:endParaRPr lang="en-US" sz="1100"/>
          </a:p>
        </p:txBody>
      </p:sp>
      <p:sp>
        <p:nvSpPr>
          <p:cNvPr id="12" name="AutoShape 12"/>
          <p:cNvSpPr/>
          <p:nvPr/>
        </p:nvSpPr>
        <p:spPr>
          <a:xfrm>
            <a:off x="4699000" y="2984500"/>
            <a:ext cx="279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(3-4年)</a:t>
            </a:r>
            <a:endParaRPr lang="en-US" sz="1100"/>
          </a:p>
        </p:txBody>
      </p:sp>
      <p:sp>
        <p:nvSpPr>
          <p:cNvPr id="13" name="AutoShape 13"/>
          <p:cNvSpPr/>
          <p:nvPr/>
        </p:nvSpPr>
        <p:spPr>
          <a:xfrm>
            <a:off x="4699000" y="3365500"/>
            <a:ext cx="27940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平衡通胀通缩，精细化运营，验证商业模式，进入稳定发展期。</a:t>
            </a:r>
            <a:endParaRPr lang="en-US" sz="1100"/>
          </a:p>
        </p:txBody>
      </p:sp>
      <p:sp>
        <p:nvSpPr>
          <p:cNvPr id="14" name="AutoShape 14"/>
          <p:cNvSpPr/>
          <p:nvPr/>
        </p:nvSpPr>
        <p:spPr>
          <a:xfrm>
            <a:off x="7874000" y="1778000"/>
            <a:ext cx="3302000" cy="3556000"/>
          </a:xfrm>
          <a:prstGeom prst="roundRect">
            <a:avLst>
              <a:gd name="adj" fmla="val 307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8000" y="2032000"/>
            <a:ext cx="406400" cy="406400"/>
          </a:xfrm>
          <a:prstGeom prst="rect">
            <a:avLst/>
          </a:prstGeom>
        </p:spPr>
      </p:pic>
      <p:sp>
        <p:nvSpPr>
          <p:cNvPr id="16" name="AutoShape 16"/>
          <p:cNvSpPr/>
          <p:nvPr/>
        </p:nvSpPr>
        <p:spPr>
          <a:xfrm>
            <a:off x="8128000" y="2603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阶段三：价值爆发</a:t>
            </a:r>
            <a:endParaRPr lang="en-US" sz="1100"/>
          </a:p>
        </p:txBody>
      </p:sp>
      <p:sp>
        <p:nvSpPr>
          <p:cNvPr id="17" name="AutoShape 17"/>
          <p:cNvSpPr/>
          <p:nvPr/>
        </p:nvSpPr>
        <p:spPr>
          <a:xfrm>
            <a:off x="8128000" y="2984500"/>
            <a:ext cx="279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(5年以上)</a:t>
            </a:r>
            <a:endParaRPr lang="en-US" sz="1100"/>
          </a:p>
        </p:txBody>
      </p:sp>
      <p:sp>
        <p:nvSpPr>
          <p:cNvPr id="18" name="AutoShape 18"/>
          <p:cNvSpPr/>
          <p:nvPr/>
        </p:nvSpPr>
        <p:spPr>
          <a:xfrm>
            <a:off x="8128000" y="3365500"/>
            <a:ext cx="27940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拓展应用场景，实现爆发式增长，成为行业领导者，共享文化价值。</a:t>
            </a:r>
            <a:endParaRPr lang="en-US" sz="1100"/>
          </a:p>
        </p:txBody>
      </p:sp>
      <p:sp>
        <p:nvSpPr>
          <p:cNvPr id="19" name="AutoShape 19"/>
          <p:cNvSpPr/>
          <p:nvPr/>
        </p:nvSpPr>
        <p:spPr>
          <a:xfrm>
            <a:off x="1016000" y="5588000"/>
            <a:ext cx="1016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清晰的战略路径，驱动生态价值持续增长</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60400"/>
            <a:ext cx="825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14. 用户多元化收益渠道</a:t>
            </a:r>
            <a:endParaRPr lang="en-US" sz="1100"/>
          </a:p>
        </p:txBody>
      </p:sp>
      <p:cxnSp>
        <p:nvCxnSpPr>
          <p:cNvPr id="3" name="Connector 3"/>
          <p:cNvCxnSpPr/>
          <p:nvPr/>
        </p:nvCxnSpPr>
        <p:spPr>
          <a:xfrm rot="-4297">
            <a:off x="1016004" y="1517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406400" cy="406400"/>
          </a:xfrm>
          <a:prstGeom prst="rect">
            <a:avLst/>
          </a:prstGeom>
        </p:spPr>
      </p:pic>
      <p:sp>
        <p:nvSpPr>
          <p:cNvPr id="5" name="AutoShape 5"/>
          <p:cNvSpPr/>
          <p:nvPr/>
        </p:nvSpPr>
        <p:spPr>
          <a:xfrm>
            <a:off x="1625600" y="19558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寄存收益</a:t>
            </a:r>
            <a:endParaRPr lang="en-US" sz="1100"/>
          </a:p>
        </p:txBody>
      </p:sp>
      <p:sp>
        <p:nvSpPr>
          <p:cNvPr id="6" name="AutoShape 6"/>
          <p:cNvSpPr/>
          <p:nvPr/>
        </p:nvSpPr>
        <p:spPr>
          <a:xfrm>
            <a:off x="1625600" y="23114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用户寄存数字资产，每日可获得“通宝”奖励。</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24200"/>
            <a:ext cx="406400" cy="406400"/>
          </a:xfrm>
          <a:prstGeom prst="rect">
            <a:avLst/>
          </a:prstGeom>
        </p:spPr>
      </p:pic>
      <p:sp>
        <p:nvSpPr>
          <p:cNvPr id="8" name="AutoShape 8"/>
          <p:cNvSpPr/>
          <p:nvPr/>
        </p:nvSpPr>
        <p:spPr>
          <a:xfrm>
            <a:off x="1625600" y="3175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二级市场交易</a:t>
            </a:r>
            <a:endParaRPr lang="en-US" sz="1100"/>
          </a:p>
        </p:txBody>
      </p:sp>
      <p:sp>
        <p:nvSpPr>
          <p:cNvPr id="9" name="AutoShape 9"/>
          <p:cNvSpPr/>
          <p:nvPr/>
        </p:nvSpPr>
        <p:spPr>
          <a:xfrm>
            <a:off x="1625600" y="35306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通过低买高卖藏品，获得价差收益。</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343400"/>
            <a:ext cx="406400" cy="406400"/>
          </a:xfrm>
          <a:prstGeom prst="rect">
            <a:avLst/>
          </a:prstGeom>
        </p:spPr>
      </p:pic>
      <p:sp>
        <p:nvSpPr>
          <p:cNvPr id="11" name="AutoShape 11"/>
          <p:cNvSpPr/>
          <p:nvPr/>
        </p:nvSpPr>
        <p:spPr>
          <a:xfrm>
            <a:off x="1625600" y="43942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国文优选（打新）</a:t>
            </a:r>
            <a:endParaRPr lang="en-US" sz="1100"/>
          </a:p>
        </p:txBody>
      </p:sp>
      <p:sp>
        <p:nvSpPr>
          <p:cNvPr id="12" name="AutoShape 12"/>
          <p:cNvSpPr/>
          <p:nvPr/>
        </p:nvSpPr>
        <p:spPr>
          <a:xfrm>
            <a:off x="1625600" y="47498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抢购新发售藏品，抢占升值先机。</a:t>
            </a:r>
            <a:endParaRPr lang="en-US" sz="1100"/>
          </a:p>
        </p:txBody>
      </p:sp>
      <p:cxnSp>
        <p:nvCxnSpPr>
          <p:cNvPr id="13" name="Connector 13"/>
          <p:cNvCxnSpPr/>
          <p:nvPr/>
        </p:nvCxnSpPr>
        <p:spPr>
          <a:xfrm rot="5386978">
            <a:off x="4419600" y="3575062"/>
            <a:ext cx="33528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1905000"/>
            <a:ext cx="406400" cy="406400"/>
          </a:xfrm>
          <a:prstGeom prst="rect">
            <a:avLst/>
          </a:prstGeom>
        </p:spPr>
      </p:pic>
      <p:sp>
        <p:nvSpPr>
          <p:cNvPr id="15" name="AutoShape 15"/>
          <p:cNvSpPr/>
          <p:nvPr/>
        </p:nvSpPr>
        <p:spPr>
          <a:xfrm>
            <a:off x="7213600" y="19558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通宝生态增值</a:t>
            </a:r>
            <a:endParaRPr lang="en-US" sz="1100"/>
          </a:p>
        </p:txBody>
      </p:sp>
      <p:sp>
        <p:nvSpPr>
          <p:cNvPr id="16" name="AutoShape 16"/>
          <p:cNvSpPr/>
          <p:nvPr/>
        </p:nvSpPr>
        <p:spPr>
          <a:xfrm>
            <a:off x="7213600" y="23114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持有“通宝”享受生态发展红利。</a:t>
            </a:r>
            <a:endParaRPr lang="en-US" sz="1100"/>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3124200"/>
            <a:ext cx="406400" cy="406400"/>
          </a:xfrm>
          <a:prstGeom prst="rect">
            <a:avLst/>
          </a:prstGeom>
        </p:spPr>
      </p:pic>
      <p:sp>
        <p:nvSpPr>
          <p:cNvPr id="18" name="AutoShape 18"/>
          <p:cNvSpPr/>
          <p:nvPr/>
        </p:nvSpPr>
        <p:spPr>
          <a:xfrm>
            <a:off x="7213600" y="3175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线下实体消费</a:t>
            </a:r>
            <a:endParaRPr lang="en-US" sz="1100"/>
          </a:p>
        </p:txBody>
      </p:sp>
      <p:sp>
        <p:nvSpPr>
          <p:cNvPr id="19" name="AutoShape 19"/>
          <p:cNvSpPr/>
          <p:nvPr/>
        </p:nvSpPr>
        <p:spPr>
          <a:xfrm>
            <a:off x="7213600" y="35306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凭藏品或通宝在合作商户处享受折扣。</a:t>
            </a:r>
            <a:endParaRPr lang="en-US" sz="1100"/>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4343400"/>
            <a:ext cx="406400" cy="406400"/>
          </a:xfrm>
          <a:prstGeom prst="rect">
            <a:avLst/>
          </a:prstGeom>
        </p:spPr>
      </p:pic>
      <p:sp>
        <p:nvSpPr>
          <p:cNvPr id="21" name="AutoShape 21"/>
          <p:cNvSpPr/>
          <p:nvPr/>
        </p:nvSpPr>
        <p:spPr>
          <a:xfrm>
            <a:off x="7213600" y="43942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通宝商城兑换</a:t>
            </a:r>
            <a:endParaRPr lang="en-US" sz="1100"/>
          </a:p>
        </p:txBody>
      </p:sp>
      <p:sp>
        <p:nvSpPr>
          <p:cNvPr id="22" name="AutoShape 22"/>
          <p:cNvSpPr/>
          <p:nvPr/>
        </p:nvSpPr>
        <p:spPr>
          <a:xfrm>
            <a:off x="7213600" y="47498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兑换实物商品与虚拟服务。</a:t>
            </a:r>
            <a:endParaRPr lang="en-US" sz="1100"/>
          </a:p>
        </p:txBody>
      </p:sp>
      <p:cxnSp>
        <p:nvCxnSpPr>
          <p:cNvPr id="23" name="Connector 23"/>
          <p:cNvCxnSpPr/>
          <p:nvPr/>
        </p:nvCxnSpPr>
        <p:spPr>
          <a:xfrm rot="-4297">
            <a:off x="1016004" y="55054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24" name="Picture 24"/>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6000" y="5765800"/>
            <a:ext cx="254000" cy="254000"/>
          </a:xfrm>
          <a:prstGeom prst="rect">
            <a:avLst/>
          </a:prstGeom>
        </p:spPr>
      </p:pic>
      <p:sp>
        <p:nvSpPr>
          <p:cNvPr id="25" name="AutoShape 25"/>
          <p:cNvSpPr/>
          <p:nvPr/>
        </p:nvSpPr>
        <p:spPr>
          <a:xfrm>
            <a:off x="1422400" y="5765800"/>
            <a:ext cx="9652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额外福利：</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不定期赠送文旅及演出门票等权益。</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60400"/>
            <a:ext cx="9525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15. 应用场景一：文化资产确权与流通</a:t>
            </a:r>
            <a:endParaRPr lang="en-US" sz="1100"/>
          </a:p>
        </p:txBody>
      </p:sp>
      <p:cxnSp>
        <p:nvCxnSpPr>
          <p:cNvPr id="3" name="Connector 3"/>
          <p:cNvCxnSpPr/>
          <p:nvPr/>
        </p:nvCxnSpPr>
        <p:spPr>
          <a:xfrm rot="-4297">
            <a:off x="1016004" y="14541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1841500"/>
            <a:ext cx="3302000" cy="3302000"/>
          </a:xfrm>
          <a:prstGeom prst="roundRect">
            <a:avLst>
              <a:gd name="adj" fmla="val 307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2095500"/>
            <a:ext cx="457200" cy="457200"/>
          </a:xfrm>
          <a:prstGeom prst="rect">
            <a:avLst/>
          </a:prstGeom>
        </p:spPr>
      </p:pic>
      <p:sp>
        <p:nvSpPr>
          <p:cNvPr id="6" name="AutoShape 6"/>
          <p:cNvSpPr/>
          <p:nvPr/>
        </p:nvSpPr>
        <p:spPr>
          <a:xfrm>
            <a:off x="1270000" y="2730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文博资源上链</a:t>
            </a:r>
            <a:endParaRPr lang="en-US" sz="1100"/>
          </a:p>
        </p:txBody>
      </p:sp>
      <p:sp>
        <p:nvSpPr>
          <p:cNvPr id="7" name="AutoShape 7"/>
          <p:cNvSpPr/>
          <p:nvPr/>
        </p:nvSpPr>
        <p:spPr>
          <a:xfrm>
            <a:off x="1270000" y="3175000"/>
            <a:ext cx="27940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与博物馆、档案馆合作，对馆藏文物影像、文献进行数字确权与上链。</a:t>
            </a:r>
            <a:endParaRPr lang="en-US" sz="1100"/>
          </a:p>
        </p:txBody>
      </p:sp>
      <p:sp>
        <p:nvSpPr>
          <p:cNvPr id="8" name="AutoShape 8"/>
          <p:cNvSpPr/>
          <p:nvPr/>
        </p:nvSpPr>
        <p:spPr>
          <a:xfrm>
            <a:off x="1270000" y="41910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构建国家级文化数字资产库。</a:t>
            </a:r>
            <a:endParaRPr lang="en-US" sz="1100"/>
          </a:p>
        </p:txBody>
      </p:sp>
      <p:sp>
        <p:nvSpPr>
          <p:cNvPr id="9" name="AutoShape 9"/>
          <p:cNvSpPr/>
          <p:nvPr/>
        </p:nvSpPr>
        <p:spPr>
          <a:xfrm>
            <a:off x="4445000" y="1841500"/>
            <a:ext cx="3302000" cy="3302000"/>
          </a:xfrm>
          <a:prstGeom prst="roundRect">
            <a:avLst>
              <a:gd name="adj" fmla="val 307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095500"/>
            <a:ext cx="457200" cy="457200"/>
          </a:xfrm>
          <a:prstGeom prst="rect">
            <a:avLst/>
          </a:prstGeom>
        </p:spPr>
      </p:pic>
      <p:sp>
        <p:nvSpPr>
          <p:cNvPr id="11" name="AutoShape 11"/>
          <p:cNvSpPr/>
          <p:nvPr/>
        </p:nvSpPr>
        <p:spPr>
          <a:xfrm>
            <a:off x="4699000" y="2730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非遗项目数字化</a:t>
            </a:r>
            <a:endParaRPr lang="en-US" sz="1100"/>
          </a:p>
        </p:txBody>
      </p:sp>
      <p:sp>
        <p:nvSpPr>
          <p:cNvPr id="12" name="AutoShape 12"/>
          <p:cNvSpPr/>
          <p:nvPr/>
        </p:nvSpPr>
        <p:spPr>
          <a:xfrm>
            <a:off x="4699000" y="3175000"/>
            <a:ext cx="27940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对传统工艺、戏曲等非遗进行数字记录与资产化确权。</a:t>
            </a:r>
            <a:endParaRPr lang="en-US" sz="1100"/>
          </a:p>
        </p:txBody>
      </p:sp>
      <p:sp>
        <p:nvSpPr>
          <p:cNvPr id="13" name="AutoShape 13"/>
          <p:cNvSpPr/>
          <p:nvPr/>
        </p:nvSpPr>
        <p:spPr>
          <a:xfrm>
            <a:off x="4699000" y="41910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支持传承人数字融资与发行。</a:t>
            </a:r>
            <a:endParaRPr lang="en-US" sz="1100"/>
          </a:p>
        </p:txBody>
      </p:sp>
      <p:sp>
        <p:nvSpPr>
          <p:cNvPr id="14" name="AutoShape 14"/>
          <p:cNvSpPr/>
          <p:nvPr/>
        </p:nvSpPr>
        <p:spPr>
          <a:xfrm>
            <a:off x="7874000" y="1841500"/>
            <a:ext cx="3302000" cy="3302000"/>
          </a:xfrm>
          <a:prstGeom prst="roundRect">
            <a:avLst>
              <a:gd name="adj" fmla="val 307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8000" y="2095500"/>
            <a:ext cx="457200" cy="457200"/>
          </a:xfrm>
          <a:prstGeom prst="rect">
            <a:avLst/>
          </a:prstGeom>
        </p:spPr>
      </p:pic>
      <p:sp>
        <p:nvSpPr>
          <p:cNvPr id="16" name="AutoShape 16"/>
          <p:cNvSpPr/>
          <p:nvPr/>
        </p:nvSpPr>
        <p:spPr>
          <a:xfrm>
            <a:off x="8128000" y="2730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艺术品资产交易</a:t>
            </a:r>
            <a:endParaRPr lang="en-US" sz="1100"/>
          </a:p>
        </p:txBody>
      </p:sp>
      <p:sp>
        <p:nvSpPr>
          <p:cNvPr id="17" name="AutoShape 17"/>
          <p:cNvSpPr/>
          <p:nvPr/>
        </p:nvSpPr>
        <p:spPr>
          <a:xfrm>
            <a:off x="8128000" y="3175000"/>
            <a:ext cx="27940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提供艺术品、版权等数字资产发行与分账机制。</a:t>
            </a:r>
            <a:endParaRPr lang="en-US" sz="1100"/>
          </a:p>
        </p:txBody>
      </p:sp>
      <p:sp>
        <p:nvSpPr>
          <p:cNvPr id="18" name="AutoShape 18"/>
          <p:cNvSpPr/>
          <p:nvPr/>
        </p:nvSpPr>
        <p:spPr>
          <a:xfrm>
            <a:off x="8128000" y="41910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实现“确权-发行-收益”全流程。</a:t>
            </a:r>
            <a:endParaRPr lang="en-US" sz="1100"/>
          </a:p>
        </p:txBody>
      </p:sp>
      <p:cxnSp>
        <p:nvCxnSpPr>
          <p:cNvPr id="19" name="Connector 19"/>
          <p:cNvCxnSpPr/>
          <p:nvPr/>
        </p:nvCxnSpPr>
        <p:spPr>
          <a:xfrm rot="-4297">
            <a:off x="1016004" y="53911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651500"/>
            <a:ext cx="254000" cy="254000"/>
          </a:xfrm>
          <a:prstGeom prst="rect">
            <a:avLst/>
          </a:prstGeom>
        </p:spPr>
      </p:pic>
      <p:sp>
        <p:nvSpPr>
          <p:cNvPr id="21" name="AutoShape 21"/>
          <p:cNvSpPr/>
          <p:nvPr/>
        </p:nvSpPr>
        <p:spPr>
          <a:xfrm>
            <a:off x="1397000" y="5651500"/>
            <a:ext cx="9652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国文汇通致力于成为文化数字资产的“公证处”与“交易所”，让文化价值在数字时代高效流转。</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60400"/>
            <a:ext cx="9525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16. 应用场景二：数字文旅与文化消费</a:t>
            </a:r>
            <a:endParaRPr lang="en-US" sz="1100"/>
          </a:p>
        </p:txBody>
      </p:sp>
      <p:cxnSp>
        <p:nvCxnSpPr>
          <p:cNvPr id="3" name="Connector 3"/>
          <p:cNvCxnSpPr/>
          <p:nvPr/>
        </p:nvCxnSpPr>
        <p:spPr>
          <a:xfrm rot="-4297">
            <a:off x="1016004" y="1517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1905000"/>
            <a:ext cx="3302000" cy="3556000"/>
          </a:xfrm>
          <a:prstGeom prst="roundRect">
            <a:avLst>
              <a:gd name="adj" fmla="val 307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2159000"/>
            <a:ext cx="508000" cy="508000"/>
          </a:xfrm>
          <a:prstGeom prst="rect">
            <a:avLst/>
          </a:prstGeom>
        </p:spPr>
      </p:pic>
      <p:sp>
        <p:nvSpPr>
          <p:cNvPr id="6" name="AutoShape 6"/>
          <p:cNvSpPr/>
          <p:nvPr/>
        </p:nvSpPr>
        <p:spPr>
          <a:xfrm>
            <a:off x="1270000" y="2794000"/>
            <a:ext cx="279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文旅权益凭证化</a:t>
            </a:r>
            <a:endParaRPr lang="en-US" sz="1100"/>
          </a:p>
        </p:txBody>
      </p:sp>
      <p:sp>
        <p:nvSpPr>
          <p:cNvPr id="7" name="AutoShape 7"/>
          <p:cNvSpPr/>
          <p:nvPr/>
        </p:nvSpPr>
        <p:spPr>
          <a:xfrm>
            <a:off x="1270000" y="3302000"/>
            <a:ext cx="2794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将景区门票、酒店住宿等权益资产化上链，实现文旅资产的数字化流转。</a:t>
            </a:r>
            <a:endParaRPr lang="en-US" sz="1100"/>
          </a:p>
        </p:txBody>
      </p:sp>
      <p:sp>
        <p:nvSpPr>
          <p:cNvPr id="8" name="AutoShape 8"/>
          <p:cNvSpPr/>
          <p:nvPr/>
        </p:nvSpPr>
        <p:spPr>
          <a:xfrm>
            <a:off x="4445000" y="1905000"/>
            <a:ext cx="3302000" cy="3556000"/>
          </a:xfrm>
          <a:prstGeom prst="roundRect">
            <a:avLst>
              <a:gd name="adj" fmla="val 307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159000"/>
            <a:ext cx="508000" cy="508000"/>
          </a:xfrm>
          <a:prstGeom prst="rect">
            <a:avLst/>
          </a:prstGeom>
        </p:spPr>
      </p:pic>
      <p:sp>
        <p:nvSpPr>
          <p:cNvPr id="10" name="AutoShape 10"/>
          <p:cNvSpPr/>
          <p:nvPr/>
        </p:nvSpPr>
        <p:spPr>
          <a:xfrm>
            <a:off x="4699000" y="2794000"/>
            <a:ext cx="279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文化园区消费支付</a:t>
            </a:r>
            <a:endParaRPr lang="en-US" sz="1100"/>
          </a:p>
        </p:txBody>
      </p:sp>
      <p:sp>
        <p:nvSpPr>
          <p:cNvPr id="11" name="AutoShape 11"/>
          <p:cNvSpPr/>
          <p:nvPr/>
        </p:nvSpPr>
        <p:spPr>
          <a:xfrm>
            <a:off x="4699000" y="3302000"/>
            <a:ext cx="2794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支持在文创商场、书店等场景支付，打造“数字资产→实体消费”闭环。</a:t>
            </a:r>
            <a:endParaRPr lang="en-US" sz="1100"/>
          </a:p>
        </p:txBody>
      </p:sp>
      <p:sp>
        <p:nvSpPr>
          <p:cNvPr id="12" name="AutoShape 12"/>
          <p:cNvSpPr/>
          <p:nvPr/>
        </p:nvSpPr>
        <p:spPr>
          <a:xfrm>
            <a:off x="7874000" y="1905000"/>
            <a:ext cx="3302000" cy="3556000"/>
          </a:xfrm>
          <a:prstGeom prst="roundRect">
            <a:avLst>
              <a:gd name="adj" fmla="val 307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8000" y="2159000"/>
            <a:ext cx="508000" cy="508000"/>
          </a:xfrm>
          <a:prstGeom prst="rect">
            <a:avLst/>
          </a:prstGeom>
        </p:spPr>
      </p:pic>
      <p:sp>
        <p:nvSpPr>
          <p:cNvPr id="14" name="AutoShape 14"/>
          <p:cNvSpPr/>
          <p:nvPr/>
        </p:nvSpPr>
        <p:spPr>
          <a:xfrm>
            <a:off x="8128000" y="2794000"/>
            <a:ext cx="279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文创衍生品经济</a:t>
            </a:r>
            <a:endParaRPr lang="en-US" sz="1100"/>
          </a:p>
        </p:txBody>
      </p:sp>
      <p:sp>
        <p:nvSpPr>
          <p:cNvPr id="15" name="AutoShape 15"/>
          <p:cNvSpPr/>
          <p:nvPr/>
        </p:nvSpPr>
        <p:spPr>
          <a:xfrm>
            <a:off x="8128000" y="3302000"/>
            <a:ext cx="2794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发行品牌NFT或会员数字卡，实现从线上收藏到线下消费的权益映射。</a:t>
            </a:r>
            <a:endParaRPr lang="en-US" sz="1100"/>
          </a:p>
        </p:txBody>
      </p:sp>
      <p:sp>
        <p:nvSpPr>
          <p:cNvPr id="16" name="AutoShape 16"/>
          <p:cNvSpPr/>
          <p:nvPr/>
        </p:nvSpPr>
        <p:spPr>
          <a:xfrm>
            <a:off x="1016000" y="5715000"/>
            <a:ext cx="889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国文通宝 · 构建数字文旅消费新生态</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60400"/>
            <a:ext cx="10668000" cy="660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17. 应用场景三：GameFi / StudyFi 互动模块</a:t>
            </a:r>
            <a:endParaRPr lang="en-US" sz="1100"/>
          </a:p>
        </p:txBody>
      </p:sp>
      <p:cxnSp>
        <p:nvCxnSpPr>
          <p:cNvPr id="3" name="Connector 3"/>
          <p:cNvCxnSpPr/>
          <p:nvPr/>
        </p:nvCxnSpPr>
        <p:spPr>
          <a:xfrm rot="-4297">
            <a:off x="1016004" y="1517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1905000"/>
            <a:ext cx="4826000" cy="3048000"/>
          </a:xfrm>
          <a:prstGeom prst="roundRect">
            <a:avLst>
              <a:gd name="adj" fmla="val 333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2159000"/>
            <a:ext cx="406400" cy="406400"/>
          </a:xfrm>
          <a:prstGeom prst="rect">
            <a:avLst/>
          </a:prstGeom>
        </p:spPr>
      </p:pic>
      <p:sp>
        <p:nvSpPr>
          <p:cNvPr id="6" name="AutoShape 6"/>
          <p:cNvSpPr/>
          <p:nvPr/>
        </p:nvSpPr>
        <p:spPr>
          <a:xfrm>
            <a:off x="1803400" y="21844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GameFi：融合文化娱乐</a:t>
            </a:r>
            <a:endParaRPr lang="en-US" sz="1100"/>
          </a:p>
        </p:txBody>
      </p:sp>
      <p:sp>
        <p:nvSpPr>
          <p:cNvPr id="7" name="AutoShape 7"/>
          <p:cNvSpPr/>
          <p:nvPr/>
        </p:nvSpPr>
        <p:spPr>
          <a:xfrm>
            <a:off x="1270000" y="27940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a:t>
            </a:r>
            <a:endParaRPr lang="en-US" sz="1100"/>
          </a:p>
        </p:txBody>
      </p:sp>
      <p:sp>
        <p:nvSpPr>
          <p:cNvPr id="8" name="AutoShape 8"/>
          <p:cNvSpPr/>
          <p:nvPr/>
        </p:nvSpPr>
        <p:spPr>
          <a:xfrm>
            <a:off x="1270000" y="3175000"/>
            <a:ext cx="4318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通过文化主题游戏，让用户在“玩中学、学中赚”，实现知识传播与资产激励双收益。</a:t>
            </a:r>
            <a:endParaRPr lang="en-US" sz="1100"/>
          </a:p>
        </p:txBody>
      </p:sp>
      <p:cxnSp>
        <p:nvCxnSpPr>
          <p:cNvPr id="9" name="Connector 9"/>
          <p:cNvCxnSpPr/>
          <p:nvPr/>
        </p:nvCxnSpPr>
        <p:spPr>
          <a:xfrm rot="5385676">
            <a:off x="4572000" y="3422663"/>
            <a:ext cx="304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0" name="AutoShape 10"/>
          <p:cNvSpPr/>
          <p:nvPr/>
        </p:nvSpPr>
        <p:spPr>
          <a:xfrm>
            <a:off x="6350000" y="1905000"/>
            <a:ext cx="4826000" cy="3048000"/>
          </a:xfrm>
          <a:prstGeom prst="roundRect">
            <a:avLst>
              <a:gd name="adj" fmla="val 333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159000"/>
            <a:ext cx="406400" cy="406400"/>
          </a:xfrm>
          <a:prstGeom prst="rect">
            <a:avLst/>
          </a:prstGeom>
        </p:spPr>
      </p:pic>
      <p:sp>
        <p:nvSpPr>
          <p:cNvPr id="12" name="AutoShape 12"/>
          <p:cNvSpPr/>
          <p:nvPr/>
        </p:nvSpPr>
        <p:spPr>
          <a:xfrm>
            <a:off x="7137400" y="21844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StudyFi：面向私域场景</a:t>
            </a:r>
            <a:endParaRPr lang="en-US" sz="1100"/>
          </a:p>
        </p:txBody>
      </p:sp>
      <p:sp>
        <p:nvSpPr>
          <p:cNvPr id="13" name="AutoShape 13"/>
          <p:cNvSpPr/>
          <p:nvPr/>
        </p:nvSpPr>
        <p:spPr>
          <a:xfrm>
            <a:off x="6604000" y="27940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a:t>
            </a:r>
            <a:endParaRPr lang="en-US" sz="1100"/>
          </a:p>
        </p:txBody>
      </p:sp>
      <p:sp>
        <p:nvSpPr>
          <p:cNvPr id="14" name="AutoShape 14"/>
          <p:cNvSpPr/>
          <p:nvPr/>
        </p:nvSpPr>
        <p:spPr>
          <a:xfrm>
            <a:off x="6604000" y="3175000"/>
            <a:ext cx="4318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承担引流与用户活化功能，通过任务激励，构建良性循环的学习与激励生态。</a:t>
            </a:r>
            <a:endParaRPr lang="en-US" sz="1100"/>
          </a:p>
        </p:txBody>
      </p:sp>
      <p:sp>
        <p:nvSpPr>
          <p:cNvPr id="15" name="AutoShape 15"/>
          <p:cNvSpPr/>
          <p:nvPr/>
        </p:nvSpPr>
        <p:spPr>
          <a:xfrm>
            <a:off x="1270000" y="5334000"/>
            <a:ext cx="9652000" cy="762000"/>
          </a:xfrm>
          <a:prstGeom prst="roundRect">
            <a:avLst>
              <a:gd name="adj" fmla="val 13333"/>
            </a:avLst>
          </a:prstGeom>
          <a:solidFill>
            <a:srgbClr val="EFF6FF">
              <a:alpha val="8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4000" y="5562600"/>
            <a:ext cx="304800" cy="304800"/>
          </a:xfrm>
          <a:prstGeom prst="rect">
            <a:avLst/>
          </a:prstGeom>
        </p:spPr>
      </p:pic>
      <p:sp>
        <p:nvSpPr>
          <p:cNvPr id="17" name="AutoShape 17"/>
          <p:cNvSpPr/>
          <p:nvPr/>
        </p:nvSpPr>
        <p:spPr>
          <a:xfrm>
            <a:off x="1955800" y="5562600"/>
            <a:ext cx="863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共同构建一个充满活力、可持续发展的文化元宇宙生态。</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60400"/>
            <a:ext cx="825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18. 应用场景四：企业与产业协同</a:t>
            </a:r>
            <a:endParaRPr lang="en-US" sz="1100"/>
          </a:p>
        </p:txBody>
      </p:sp>
      <p:cxnSp>
        <p:nvCxnSpPr>
          <p:cNvPr id="3" name="Connector 3"/>
          <p:cNvCxnSpPr/>
          <p:nvPr/>
        </p:nvCxnSpPr>
        <p:spPr>
          <a:xfrm rot="-4297">
            <a:off x="1016004" y="14541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1905000"/>
            <a:ext cx="3302000" cy="3048000"/>
          </a:xfrm>
          <a:prstGeom prst="roundRect">
            <a:avLst>
              <a:gd name="adj" fmla="val 333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2159000"/>
            <a:ext cx="406400" cy="406400"/>
          </a:xfrm>
          <a:prstGeom prst="rect">
            <a:avLst/>
          </a:prstGeom>
        </p:spPr>
      </p:pic>
      <p:sp>
        <p:nvSpPr>
          <p:cNvPr id="6" name="AutoShape 6"/>
          <p:cNvSpPr/>
          <p:nvPr/>
        </p:nvSpPr>
        <p:spPr>
          <a:xfrm>
            <a:off x="1270000" y="2730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第三方项目发行接入</a:t>
            </a:r>
            <a:endParaRPr lang="en-US" sz="1100"/>
          </a:p>
        </p:txBody>
      </p:sp>
      <p:sp>
        <p:nvSpPr>
          <p:cNvPr id="7" name="AutoShape 7"/>
          <p:cNvSpPr/>
          <p:nvPr/>
        </p:nvSpPr>
        <p:spPr>
          <a:xfrm>
            <a:off x="1270000" y="3175000"/>
            <a:ext cx="2794000" cy="838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向文旅集团、艺术院校等开放发行接口，提供API与SDK支持。</a:t>
            </a:r>
            <a:endParaRPr lang="en-US" sz="1100"/>
          </a:p>
        </p:txBody>
      </p:sp>
      <p:sp>
        <p:nvSpPr>
          <p:cNvPr id="8" name="AutoShape 8"/>
          <p:cNvSpPr/>
          <p:nvPr/>
        </p:nvSpPr>
        <p:spPr>
          <a:xfrm>
            <a:off x="1270000" y="4127500"/>
            <a:ext cx="2794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实现跨平台数据打通与联合营销。</a:t>
            </a:r>
            <a:endParaRPr lang="en-US" sz="1100"/>
          </a:p>
        </p:txBody>
      </p:sp>
      <p:sp>
        <p:nvSpPr>
          <p:cNvPr id="9" name="AutoShape 9"/>
          <p:cNvSpPr/>
          <p:nvPr/>
        </p:nvSpPr>
        <p:spPr>
          <a:xfrm>
            <a:off x="4445000" y="1905000"/>
            <a:ext cx="3302000" cy="3048000"/>
          </a:xfrm>
          <a:prstGeom prst="roundRect">
            <a:avLst>
              <a:gd name="adj" fmla="val 333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159000"/>
            <a:ext cx="406400" cy="406400"/>
          </a:xfrm>
          <a:prstGeom prst="rect">
            <a:avLst/>
          </a:prstGeom>
        </p:spPr>
      </p:pic>
      <p:sp>
        <p:nvSpPr>
          <p:cNvPr id="11" name="AutoShape 11"/>
          <p:cNvSpPr/>
          <p:nvPr/>
        </p:nvSpPr>
        <p:spPr>
          <a:xfrm>
            <a:off x="4699000" y="2730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行业联盟与平台共建</a:t>
            </a:r>
            <a:endParaRPr lang="en-US" sz="1100"/>
          </a:p>
        </p:txBody>
      </p:sp>
      <p:sp>
        <p:nvSpPr>
          <p:cNvPr id="12" name="AutoShape 12"/>
          <p:cNvSpPr/>
          <p:nvPr/>
        </p:nvSpPr>
        <p:spPr>
          <a:xfrm>
            <a:off x="4699000" y="3175000"/>
            <a:ext cx="2794000" cy="838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与地方政府共建“文化数字资产专区”，打造城市级管理交易中心。</a:t>
            </a:r>
            <a:endParaRPr lang="en-US" sz="1100"/>
          </a:p>
        </p:txBody>
      </p:sp>
      <p:sp>
        <p:nvSpPr>
          <p:cNvPr id="13" name="AutoShape 13"/>
          <p:cNvSpPr/>
          <p:nvPr/>
        </p:nvSpPr>
        <p:spPr>
          <a:xfrm>
            <a:off x="4699000" y="4127500"/>
            <a:ext cx="2794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构建区域性文化数字资产生态。</a:t>
            </a:r>
            <a:endParaRPr lang="en-US" sz="1100"/>
          </a:p>
        </p:txBody>
      </p:sp>
      <p:sp>
        <p:nvSpPr>
          <p:cNvPr id="14" name="AutoShape 14"/>
          <p:cNvSpPr/>
          <p:nvPr/>
        </p:nvSpPr>
        <p:spPr>
          <a:xfrm>
            <a:off x="7874000" y="1905000"/>
            <a:ext cx="3302000" cy="3048000"/>
          </a:xfrm>
          <a:prstGeom prst="roundRect">
            <a:avLst>
              <a:gd name="adj" fmla="val 333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8000" y="2159000"/>
            <a:ext cx="406400" cy="406400"/>
          </a:xfrm>
          <a:prstGeom prst="rect">
            <a:avLst/>
          </a:prstGeom>
        </p:spPr>
      </p:pic>
      <p:sp>
        <p:nvSpPr>
          <p:cNvPr id="16" name="AutoShape 16"/>
          <p:cNvSpPr/>
          <p:nvPr/>
        </p:nvSpPr>
        <p:spPr>
          <a:xfrm>
            <a:off x="8128000" y="2730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品牌共创与营销合作</a:t>
            </a:r>
            <a:endParaRPr lang="en-US" sz="1100"/>
          </a:p>
        </p:txBody>
      </p:sp>
      <p:sp>
        <p:nvSpPr>
          <p:cNvPr id="17" name="AutoShape 17"/>
          <p:cNvSpPr/>
          <p:nvPr/>
        </p:nvSpPr>
        <p:spPr>
          <a:xfrm>
            <a:off x="8128000" y="3175000"/>
            <a:ext cx="2794000" cy="838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跨界品牌基于文化IP共创数字资产、活动徽章，驱动会员体系。</a:t>
            </a:r>
            <a:endParaRPr lang="en-US" sz="1100"/>
          </a:p>
        </p:txBody>
      </p:sp>
      <p:sp>
        <p:nvSpPr>
          <p:cNvPr id="18" name="AutoShape 18"/>
          <p:cNvSpPr/>
          <p:nvPr/>
        </p:nvSpPr>
        <p:spPr>
          <a:xfrm>
            <a:off x="8128000" y="4127500"/>
            <a:ext cx="2794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实现“文化+消费”双循环。</a:t>
            </a:r>
            <a:endParaRPr lang="en-US" sz="1100"/>
          </a:p>
        </p:txBody>
      </p:sp>
      <p:sp>
        <p:nvSpPr>
          <p:cNvPr id="19" name="AutoShape 19"/>
          <p:cNvSpPr/>
          <p:nvPr/>
        </p:nvSpPr>
        <p:spPr>
          <a:xfrm>
            <a:off x="1016000" y="5334000"/>
            <a:ext cx="10160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国文汇通不仅是交易平台，更是开放的生态系统，致力于构建共赢的产业新生态。</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60400"/>
            <a:ext cx="889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19. 应用场景五：国际传播与文化出海</a:t>
            </a:r>
            <a:endParaRPr lang="en-US" sz="1100"/>
          </a:p>
        </p:txBody>
      </p:sp>
      <p:cxnSp>
        <p:nvCxnSpPr>
          <p:cNvPr id="3" name="Connector 3"/>
          <p:cNvCxnSpPr/>
          <p:nvPr/>
        </p:nvCxnSpPr>
        <p:spPr>
          <a:xfrm rot="-4297">
            <a:off x="1016004" y="14541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19685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数字文创国际化交易</a:t>
            </a:r>
            <a:endParaRPr lang="en-US" sz="1100"/>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667000"/>
            <a:ext cx="304800" cy="304800"/>
          </a:xfrm>
          <a:prstGeom prst="rect">
            <a:avLst/>
          </a:prstGeom>
        </p:spPr>
      </p:pic>
      <p:sp>
        <p:nvSpPr>
          <p:cNvPr id="6" name="AutoShape 6"/>
          <p:cNvSpPr/>
          <p:nvPr/>
        </p:nvSpPr>
        <p:spPr>
          <a:xfrm>
            <a:off x="1524000" y="26670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a:t>
            </a:r>
            <a:endParaRPr lang="en-US" sz="1100"/>
          </a:p>
        </p:txBody>
      </p:sp>
      <p:sp>
        <p:nvSpPr>
          <p:cNvPr id="7" name="AutoShape 7"/>
          <p:cNvSpPr/>
          <p:nvPr/>
        </p:nvSpPr>
        <p:spPr>
          <a:xfrm>
            <a:off x="1524000" y="3048000"/>
            <a:ext cx="4318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对接海外NFT、艺术交易平台，推动中国文化数字资产全球挂牌。</a:t>
            </a:r>
            <a:endParaRPr lang="en-US" sz="1100"/>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064000"/>
            <a:ext cx="304800" cy="304800"/>
          </a:xfrm>
          <a:prstGeom prst="rect">
            <a:avLst/>
          </a:prstGeom>
        </p:spPr>
      </p:pic>
      <p:sp>
        <p:nvSpPr>
          <p:cNvPr id="9" name="AutoShape 9"/>
          <p:cNvSpPr/>
          <p:nvPr/>
        </p:nvSpPr>
        <p:spPr>
          <a:xfrm>
            <a:off x="1524000" y="40640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a:t>
            </a:r>
            <a:endParaRPr lang="en-US" sz="1100"/>
          </a:p>
        </p:txBody>
      </p:sp>
      <p:sp>
        <p:nvSpPr>
          <p:cNvPr id="10" name="AutoShape 10"/>
          <p:cNvSpPr/>
          <p:nvPr/>
        </p:nvSpPr>
        <p:spPr>
          <a:xfrm>
            <a:off x="1524000" y="4445000"/>
            <a:ext cx="4318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推出多语言版平台与跨境结算体系，助力文化数字出海。</a:t>
            </a:r>
            <a:endParaRPr lang="en-US" sz="1100"/>
          </a:p>
        </p:txBody>
      </p:sp>
      <p:cxnSp>
        <p:nvCxnSpPr>
          <p:cNvPr id="11" name="Connector 11"/>
          <p:cNvCxnSpPr/>
          <p:nvPr/>
        </p:nvCxnSpPr>
        <p:spPr>
          <a:xfrm rot="5386518">
            <a:off x="4476750" y="3581412"/>
            <a:ext cx="32385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2" name="AutoShape 12"/>
          <p:cNvSpPr/>
          <p:nvPr/>
        </p:nvSpPr>
        <p:spPr>
          <a:xfrm>
            <a:off x="6604000" y="19685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海外文创IP授权</a:t>
            </a:r>
            <a:endParaRPr lang="en-US" sz="1100"/>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2667000"/>
            <a:ext cx="304800" cy="304800"/>
          </a:xfrm>
          <a:prstGeom prst="rect">
            <a:avLst/>
          </a:prstGeom>
        </p:spPr>
      </p:pic>
      <p:sp>
        <p:nvSpPr>
          <p:cNvPr id="14" name="AutoShape 14"/>
          <p:cNvSpPr/>
          <p:nvPr/>
        </p:nvSpPr>
        <p:spPr>
          <a:xfrm>
            <a:off x="7112000" y="26670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a:t>
            </a:r>
            <a:endParaRPr lang="en-US" sz="1100"/>
          </a:p>
        </p:txBody>
      </p:sp>
      <p:sp>
        <p:nvSpPr>
          <p:cNvPr id="15" name="AutoShape 15"/>
          <p:cNvSpPr/>
          <p:nvPr/>
        </p:nvSpPr>
        <p:spPr>
          <a:xfrm>
            <a:off x="7112000" y="3048000"/>
            <a:ext cx="4318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文化企业可通过平台完成海外IP授权与收益追踪。</a:t>
            </a:r>
            <a:endParaRPr lang="en-US" sz="1100"/>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4064000"/>
            <a:ext cx="304800" cy="304800"/>
          </a:xfrm>
          <a:prstGeom prst="rect">
            <a:avLst/>
          </a:prstGeom>
        </p:spPr>
      </p:pic>
      <p:sp>
        <p:nvSpPr>
          <p:cNvPr id="17" name="AutoShape 17"/>
          <p:cNvSpPr/>
          <p:nvPr/>
        </p:nvSpPr>
        <p:spPr>
          <a:xfrm>
            <a:off x="7112000" y="40640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a:t>
            </a:r>
            <a:endParaRPr lang="en-US" sz="1100"/>
          </a:p>
        </p:txBody>
      </p:sp>
      <p:sp>
        <p:nvSpPr>
          <p:cNvPr id="18" name="AutoShape 18"/>
          <p:cNvSpPr/>
          <p:nvPr/>
        </p:nvSpPr>
        <p:spPr>
          <a:xfrm>
            <a:off x="7112000" y="4445000"/>
            <a:ext cx="4318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实现跨境文化资产管理与权益保护。</a:t>
            </a:r>
            <a:endParaRPr lang="en-US" sz="1100"/>
          </a:p>
        </p:txBody>
      </p:sp>
      <p:cxnSp>
        <p:nvCxnSpPr>
          <p:cNvPr id="19" name="Connector 19"/>
          <p:cNvCxnSpPr/>
          <p:nvPr/>
        </p:nvCxnSpPr>
        <p:spPr>
          <a:xfrm rot="-4297">
            <a:off x="1016004" y="5708650"/>
            <a:ext cx="10160000" cy="12700"/>
          </a:xfrm>
          <a:prstGeom prst="straightConnector1">
            <a:avLst/>
          </a:prstGeom>
          <a:solidFill>
            <a:srgbClr val="DEE0E3">
              <a:alpha val="100000"/>
            </a:srgbClr>
          </a:solidFill>
          <a:ln w="25400" cap="flat" cmpd="sng">
            <a:solidFill>
              <a:srgbClr val="000080">
                <a:alpha val="100000"/>
              </a:srgbClr>
            </a:solidFill>
            <a:prstDash val="solid"/>
            <a:round/>
            <a:headEnd type="none" w="lg" len="lg"/>
            <a:tailEnd type="none" w="lg" len="lg"/>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431800"/>
            <a:ext cx="825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20. 战略规划：未来的发展蓝图</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508000" y="1397000"/>
            <a:ext cx="3302000" cy="3048000"/>
          </a:xfrm>
          <a:prstGeom prst="roundRect">
            <a:avLst>
              <a:gd name="adj" fmla="val 3333"/>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651000"/>
            <a:ext cx="304800" cy="304800"/>
          </a:xfrm>
          <a:prstGeom prst="rect">
            <a:avLst/>
          </a:prstGeom>
        </p:spPr>
      </p:pic>
      <p:sp>
        <p:nvSpPr>
          <p:cNvPr id="6" name="AutoShape 6"/>
          <p:cNvSpPr/>
          <p:nvPr/>
        </p:nvSpPr>
        <p:spPr>
          <a:xfrm>
            <a:off x="1193800" y="16637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短期目标 (1-2年)</a:t>
            </a:r>
            <a:endParaRPr lang="en-US" sz="1100"/>
          </a:p>
        </p:txBody>
      </p:sp>
      <p:sp>
        <p:nvSpPr>
          <p:cNvPr id="7" name="AutoShape 7"/>
          <p:cNvSpPr/>
          <p:nvPr/>
        </p:nvSpPr>
        <p:spPr>
          <a:xfrm>
            <a:off x="762000" y="2095500"/>
            <a:ext cx="279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标杆打造与模式验证</a:t>
            </a:r>
            <a:endParaRPr lang="en-US" sz="1100"/>
          </a:p>
        </p:txBody>
      </p:sp>
      <p:sp>
        <p:nvSpPr>
          <p:cNvPr id="8" name="AutoShape 8"/>
          <p:cNvSpPr/>
          <p:nvPr/>
        </p:nvSpPr>
        <p:spPr>
          <a:xfrm>
            <a:off x="762000" y="2476500"/>
            <a:ext cx="2794000" cy="139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集中资源深度绑定30-50家顶级文博机构与20-30个核心文旅目的地，打造行业标杆项目。</a:t>
            </a:r>
            <a:endParaRPr lang="en-US" sz="1100"/>
          </a:p>
          <a:p>
            <a:pPr indent="0" algn="l">
              <a:lnSpc>
                <a:spcPct val="125000"/>
              </a:lnSpc>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关键成果：</a:t>
            </a: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完成平台核心功能打磨，验证“文化+科技+商业”模式可行性，积累100万高质量用户并实现盈亏平衡。</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4445000" y="1397000"/>
            <a:ext cx="3302000" cy="3048000"/>
          </a:xfrm>
          <a:prstGeom prst="roundRect">
            <a:avLst>
              <a:gd name="adj" fmla="val 3333"/>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651000"/>
            <a:ext cx="304800" cy="304800"/>
          </a:xfrm>
          <a:prstGeom prst="rect">
            <a:avLst/>
          </a:prstGeom>
        </p:spPr>
      </p:pic>
      <p:sp>
        <p:nvSpPr>
          <p:cNvPr id="11" name="AutoShape 11"/>
          <p:cNvSpPr/>
          <p:nvPr/>
        </p:nvSpPr>
        <p:spPr>
          <a:xfrm>
            <a:off x="5130800" y="16637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中期目标 (3-4年)</a:t>
            </a:r>
            <a:endParaRPr lang="en-US" sz="1100"/>
          </a:p>
        </p:txBody>
      </p:sp>
      <p:sp>
        <p:nvSpPr>
          <p:cNvPr id="12" name="AutoShape 12"/>
          <p:cNvSpPr/>
          <p:nvPr/>
        </p:nvSpPr>
        <p:spPr>
          <a:xfrm>
            <a:off x="4699000" y="2095500"/>
            <a:ext cx="279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生态扩张与网络效应</a:t>
            </a:r>
            <a:endParaRPr lang="en-US" sz="1100"/>
          </a:p>
        </p:txBody>
      </p:sp>
      <p:sp>
        <p:nvSpPr>
          <p:cNvPr id="13" name="AutoShape 13"/>
          <p:cNvSpPr/>
          <p:nvPr/>
        </p:nvSpPr>
        <p:spPr>
          <a:xfrm>
            <a:off x="4699000" y="2476500"/>
            <a:ext cx="2794000" cy="139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加速全国生态扩张，将成熟合作模式复制到更多省份与城市。</a:t>
            </a:r>
            <a:endParaRPr lang="en-US" sz="1100"/>
          </a:p>
          <a:p>
            <a:pPr indent="0" algn="l">
              <a:lnSpc>
                <a:spcPct val="125000"/>
              </a:lnSpc>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关键成果：</a:t>
            </a: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接入超1000家文化供给方与10万个线下消费品牌，注册用户突破5000万，形成强大网络效应。</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8382000" y="1397000"/>
            <a:ext cx="3302000" cy="3048000"/>
          </a:xfrm>
          <a:prstGeom prst="roundRect">
            <a:avLst>
              <a:gd name="adj" fmla="val 3333"/>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36000" y="1651000"/>
            <a:ext cx="304800" cy="304800"/>
          </a:xfrm>
          <a:prstGeom prst="rect">
            <a:avLst/>
          </a:prstGeom>
        </p:spPr>
      </p:pic>
      <p:sp>
        <p:nvSpPr>
          <p:cNvPr id="16" name="AutoShape 16"/>
          <p:cNvSpPr/>
          <p:nvPr/>
        </p:nvSpPr>
        <p:spPr>
          <a:xfrm>
            <a:off x="9067800" y="16637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长期目标 (5年以上)</a:t>
            </a:r>
            <a:endParaRPr lang="en-US" sz="1100"/>
          </a:p>
        </p:txBody>
      </p:sp>
      <p:sp>
        <p:nvSpPr>
          <p:cNvPr id="17" name="AutoShape 17"/>
          <p:cNvSpPr/>
          <p:nvPr/>
        </p:nvSpPr>
        <p:spPr>
          <a:xfrm>
            <a:off x="8636000" y="2095500"/>
            <a:ext cx="279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全球影响与标准输出</a:t>
            </a:r>
            <a:endParaRPr lang="en-US" sz="1100"/>
          </a:p>
        </p:txBody>
      </p:sp>
      <p:sp>
        <p:nvSpPr>
          <p:cNvPr id="18" name="AutoShape 18"/>
          <p:cNvSpPr/>
          <p:nvPr/>
        </p:nvSpPr>
        <p:spPr>
          <a:xfrm>
            <a:off x="8636000" y="24765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探索文化数字资产跨境流通与交易，让中华文化通过数字力量走向世界。</a:t>
            </a:r>
            <a:endParaRPr lang="en-US" sz="1100"/>
          </a:p>
          <a:p>
            <a:pPr indent="0" algn="l">
              <a:lnSpc>
                <a:spcPct val="125000"/>
              </a:lnSpc>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关键成果：</a:t>
            </a: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对接海外主流交易平台与金融市场，建立跨境结算体系，参与全球文化数字化标准制定。</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9" name="Connector 19"/>
          <p:cNvCxnSpPr/>
          <p:nvPr/>
        </p:nvCxnSpPr>
        <p:spPr>
          <a:xfrm rot="-4092">
            <a:off x="762004" y="46164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4953000"/>
            <a:ext cx="355600" cy="355600"/>
          </a:xfrm>
          <a:prstGeom prst="rect">
            <a:avLst/>
          </a:prstGeom>
        </p:spPr>
      </p:pic>
      <p:sp>
        <p:nvSpPr>
          <p:cNvPr id="21" name="AutoShape 21"/>
          <p:cNvSpPr/>
          <p:nvPr/>
        </p:nvSpPr>
        <p:spPr>
          <a:xfrm>
            <a:off x="1371600" y="4978400"/>
            <a:ext cx="990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战略核心：构建全球领先的文化数字资产生态</a:t>
            </a:r>
            <a:endParaRPr lang="en-US" sz="1100"/>
          </a:p>
        </p:txBody>
      </p:sp>
      <p:sp>
        <p:nvSpPr>
          <p:cNvPr id="22" name="AutoShape 22"/>
          <p:cNvSpPr/>
          <p:nvPr/>
        </p:nvSpPr>
        <p:spPr>
          <a:xfrm>
            <a:off x="1371600" y="5384800"/>
            <a:ext cx="990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通过三步走战略，从标杆打造到生态扩张，最终实现全球影响，让中华文化通过数字的力量走向世界。</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09600" y="660400"/>
            <a:ext cx="109728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21. 使命：以文化为魂 · 以科技为器 · 以金融为力</a:t>
            </a:r>
            <a:endParaRPr lang="en-US" sz="1100"/>
          </a:p>
        </p:txBody>
      </p:sp>
      <p:cxnSp>
        <p:nvCxnSpPr>
          <p:cNvPr id="3" name="Connector 3"/>
          <p:cNvCxnSpPr/>
          <p:nvPr/>
        </p:nvCxnSpPr>
        <p:spPr>
          <a:xfrm rot="-4297">
            <a:off x="1016004" y="1517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2032000"/>
            <a:ext cx="3302000" cy="3048000"/>
          </a:xfrm>
          <a:prstGeom prst="roundRect">
            <a:avLst>
              <a:gd name="adj" fmla="val 333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2286000"/>
            <a:ext cx="406400" cy="406400"/>
          </a:xfrm>
          <a:prstGeom prst="rect">
            <a:avLst/>
          </a:prstGeom>
        </p:spPr>
      </p:pic>
      <p:sp>
        <p:nvSpPr>
          <p:cNvPr id="6" name="AutoShape 6"/>
          <p:cNvSpPr/>
          <p:nvPr/>
        </p:nvSpPr>
        <p:spPr>
          <a:xfrm>
            <a:off x="1803400" y="23114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文化使命</a:t>
            </a:r>
            <a:endParaRPr lang="en-US" sz="1100"/>
          </a:p>
        </p:txBody>
      </p:sp>
      <p:sp>
        <p:nvSpPr>
          <p:cNvPr id="7" name="AutoShape 7"/>
          <p:cNvSpPr/>
          <p:nvPr/>
        </p:nvSpPr>
        <p:spPr>
          <a:xfrm>
            <a:off x="1270000" y="2921000"/>
            <a:ext cx="2794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让中华优秀传统文化在数字时代“活起来”。</a:t>
            </a:r>
            <a:endParaRPr lang="en-US" sz="1100"/>
          </a:p>
        </p:txBody>
      </p:sp>
      <p:sp>
        <p:nvSpPr>
          <p:cNvPr id="8" name="AutoShape 8"/>
          <p:cNvSpPr/>
          <p:nvPr/>
        </p:nvSpPr>
        <p:spPr>
          <a:xfrm>
            <a:off x="1270000" y="3683000"/>
            <a:ext cx="2794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推动文化资源数字化、资产化与全球化。</a:t>
            </a:r>
            <a:endParaRPr lang="en-US" sz="1100"/>
          </a:p>
        </p:txBody>
      </p:sp>
      <p:sp>
        <p:nvSpPr>
          <p:cNvPr id="9" name="AutoShape 9"/>
          <p:cNvSpPr/>
          <p:nvPr/>
        </p:nvSpPr>
        <p:spPr>
          <a:xfrm>
            <a:off x="4445000" y="2032000"/>
            <a:ext cx="3302000" cy="3048000"/>
          </a:xfrm>
          <a:prstGeom prst="roundRect">
            <a:avLst>
              <a:gd name="adj" fmla="val 333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286000"/>
            <a:ext cx="406400" cy="406400"/>
          </a:xfrm>
          <a:prstGeom prst="rect">
            <a:avLst/>
          </a:prstGeom>
        </p:spPr>
      </p:pic>
      <p:sp>
        <p:nvSpPr>
          <p:cNvPr id="11" name="AutoShape 11"/>
          <p:cNvSpPr/>
          <p:nvPr/>
        </p:nvSpPr>
        <p:spPr>
          <a:xfrm>
            <a:off x="5232400" y="23114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产业使命</a:t>
            </a:r>
            <a:endParaRPr lang="en-US" sz="1100"/>
          </a:p>
        </p:txBody>
      </p:sp>
      <p:sp>
        <p:nvSpPr>
          <p:cNvPr id="12" name="AutoShape 12"/>
          <p:cNvSpPr/>
          <p:nvPr/>
        </p:nvSpPr>
        <p:spPr>
          <a:xfrm>
            <a:off x="4699000" y="2921000"/>
            <a:ext cx="2794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建立合规、安全、可持续的数字文化资产体系。</a:t>
            </a:r>
            <a:endParaRPr lang="en-US" sz="1100"/>
          </a:p>
        </p:txBody>
      </p:sp>
      <p:sp>
        <p:nvSpPr>
          <p:cNvPr id="13" name="AutoShape 13"/>
          <p:cNvSpPr/>
          <p:nvPr/>
        </p:nvSpPr>
        <p:spPr>
          <a:xfrm>
            <a:off x="4699000" y="3683000"/>
            <a:ext cx="2794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打造文化与金融深度融合的数字经济新引擎。</a:t>
            </a:r>
            <a:endParaRPr lang="en-US" sz="1100"/>
          </a:p>
        </p:txBody>
      </p:sp>
      <p:sp>
        <p:nvSpPr>
          <p:cNvPr id="14" name="AutoShape 14"/>
          <p:cNvSpPr/>
          <p:nvPr/>
        </p:nvSpPr>
        <p:spPr>
          <a:xfrm>
            <a:off x="7874000" y="2032000"/>
            <a:ext cx="3302000" cy="3048000"/>
          </a:xfrm>
          <a:prstGeom prst="roundRect">
            <a:avLst>
              <a:gd name="adj" fmla="val 333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8000" y="2286000"/>
            <a:ext cx="406400" cy="406400"/>
          </a:xfrm>
          <a:prstGeom prst="rect">
            <a:avLst/>
          </a:prstGeom>
        </p:spPr>
      </p:pic>
      <p:sp>
        <p:nvSpPr>
          <p:cNvPr id="16" name="AutoShape 16"/>
          <p:cNvSpPr/>
          <p:nvPr/>
        </p:nvSpPr>
        <p:spPr>
          <a:xfrm>
            <a:off x="8661400" y="23114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社会使命</a:t>
            </a:r>
            <a:endParaRPr lang="en-US" sz="1100"/>
          </a:p>
        </p:txBody>
      </p:sp>
      <p:sp>
        <p:nvSpPr>
          <p:cNvPr id="17" name="AutoShape 17"/>
          <p:cNvSpPr/>
          <p:nvPr/>
        </p:nvSpPr>
        <p:spPr>
          <a:xfrm>
            <a:off x="8128000" y="2921000"/>
            <a:ext cx="2794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通过技术创新与金融赋能，助力文化产业升级。</a:t>
            </a:r>
            <a:endParaRPr lang="en-US" sz="1100"/>
          </a:p>
        </p:txBody>
      </p:sp>
      <p:sp>
        <p:nvSpPr>
          <p:cNvPr id="18" name="AutoShape 18"/>
          <p:cNvSpPr/>
          <p:nvPr/>
        </p:nvSpPr>
        <p:spPr>
          <a:xfrm>
            <a:off x="8128000" y="3683000"/>
            <a:ext cx="2794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让每个文化创意、艺术作品在数字经济中焕发新价值。</a:t>
            </a:r>
            <a:endParaRPr lang="en-US" sz="1100"/>
          </a:p>
        </p:txBody>
      </p:sp>
      <p:sp>
        <p:nvSpPr>
          <p:cNvPr id="19" name="AutoShape 19"/>
          <p:cNvSpPr/>
          <p:nvPr/>
        </p:nvSpPr>
        <p:spPr>
          <a:xfrm>
            <a:off x="1016000" y="5334000"/>
            <a:ext cx="10160000" cy="609600"/>
          </a:xfrm>
          <a:prstGeom prst="roundRect">
            <a:avLst>
              <a:gd name="adj" fmla="val 16666"/>
            </a:avLst>
          </a:prstGeom>
          <a:solidFill>
            <a:srgbClr val="000080">
              <a:alpha val="5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70000" y="5511800"/>
            <a:ext cx="254000" cy="254000"/>
          </a:xfrm>
          <a:prstGeom prst="rect">
            <a:avLst/>
          </a:prstGeom>
        </p:spPr>
      </p:pic>
      <p:sp>
        <p:nvSpPr>
          <p:cNvPr id="21" name="AutoShape 21"/>
          <p:cNvSpPr/>
          <p:nvPr/>
        </p:nvSpPr>
        <p:spPr>
          <a:xfrm>
            <a:off x="1651000" y="5486400"/>
            <a:ext cx="889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赋能每一个文化创意，让价值在数字经济中绽放。</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60400"/>
            <a:ext cx="9525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22.愿景：汇聚文化之光 · 通达数字未来</a:t>
            </a:r>
            <a:endParaRPr lang="en-US" sz="1100"/>
          </a:p>
        </p:txBody>
      </p:sp>
      <p:cxnSp>
        <p:nvCxnSpPr>
          <p:cNvPr id="3" name="Connector 3"/>
          <p:cNvCxnSpPr/>
          <p:nvPr/>
        </p:nvCxnSpPr>
        <p:spPr>
          <a:xfrm rot="-4297">
            <a:off x="1016004" y="1517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355600" cy="355600"/>
          </a:xfrm>
          <a:prstGeom prst="rect">
            <a:avLst/>
          </a:prstGeom>
        </p:spPr>
      </p:pic>
      <p:sp>
        <p:nvSpPr>
          <p:cNvPr id="5" name="AutoShape 5"/>
          <p:cNvSpPr/>
          <p:nvPr/>
        </p:nvSpPr>
        <p:spPr>
          <a:xfrm>
            <a:off x="1625600" y="1930400"/>
            <a:ext cx="952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成为中国领先的文化类数字资产基础设施平台</a:t>
            </a:r>
            <a:endParaRPr lang="en-US" sz="1100"/>
          </a:p>
        </p:txBody>
      </p:sp>
      <p:sp>
        <p:nvSpPr>
          <p:cNvPr id="6" name="AutoShape 6"/>
          <p:cNvSpPr/>
          <p:nvPr/>
        </p:nvSpPr>
        <p:spPr>
          <a:xfrm>
            <a:off x="1625600" y="2311400"/>
            <a:ext cx="9525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构建坚实技术底座，赋能文化产业数字化转型</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921000"/>
            <a:ext cx="355600" cy="355600"/>
          </a:xfrm>
          <a:prstGeom prst="rect">
            <a:avLst/>
          </a:prstGeom>
        </p:spPr>
      </p:pic>
      <p:sp>
        <p:nvSpPr>
          <p:cNvPr id="8" name="AutoShape 8"/>
          <p:cNvSpPr/>
          <p:nvPr/>
        </p:nvSpPr>
        <p:spPr>
          <a:xfrm>
            <a:off x="1625600" y="2946400"/>
            <a:ext cx="952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打造国家级文化数字化生态枢纽</a:t>
            </a:r>
            <a:endParaRPr lang="en-US" sz="1100"/>
          </a:p>
        </p:txBody>
      </p:sp>
      <p:sp>
        <p:nvSpPr>
          <p:cNvPr id="9" name="AutoShape 9"/>
          <p:cNvSpPr/>
          <p:nvPr/>
        </p:nvSpPr>
        <p:spPr>
          <a:xfrm>
            <a:off x="1625600" y="3327400"/>
            <a:ext cx="9525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促进文化价值社会共享与高效国际传播</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937000"/>
            <a:ext cx="355600" cy="355600"/>
          </a:xfrm>
          <a:prstGeom prst="rect">
            <a:avLst/>
          </a:prstGeom>
        </p:spPr>
      </p:pic>
      <p:sp>
        <p:nvSpPr>
          <p:cNvPr id="11" name="AutoShape 11"/>
          <p:cNvSpPr/>
          <p:nvPr/>
        </p:nvSpPr>
        <p:spPr>
          <a:xfrm>
            <a:off x="1625600" y="3962400"/>
            <a:ext cx="952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推动全球标准化与国际互认</a:t>
            </a:r>
            <a:endParaRPr lang="en-US" sz="1100"/>
          </a:p>
        </p:txBody>
      </p:sp>
      <p:sp>
        <p:nvSpPr>
          <p:cNvPr id="12" name="AutoShape 12"/>
          <p:cNvSpPr/>
          <p:nvPr/>
        </p:nvSpPr>
        <p:spPr>
          <a:xfrm>
            <a:off x="1625600" y="4343400"/>
            <a:ext cx="9525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建立文化资产确权、交易、流通的全球准则</a:t>
            </a:r>
            <a:endParaRPr lang="en-US" sz="1100"/>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953000"/>
            <a:ext cx="355600" cy="355600"/>
          </a:xfrm>
          <a:prstGeom prst="rect">
            <a:avLst/>
          </a:prstGeom>
        </p:spPr>
      </p:pic>
      <p:sp>
        <p:nvSpPr>
          <p:cNvPr id="14" name="AutoShape 14"/>
          <p:cNvSpPr/>
          <p:nvPr/>
        </p:nvSpPr>
        <p:spPr>
          <a:xfrm>
            <a:off x="1625600" y="4978400"/>
            <a:ext cx="952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建设数字文明新体系</a:t>
            </a:r>
            <a:endParaRPr lang="en-US" sz="1100"/>
          </a:p>
        </p:txBody>
      </p:sp>
      <p:sp>
        <p:nvSpPr>
          <p:cNvPr id="15" name="AutoShape 15"/>
          <p:cNvSpPr/>
          <p:nvPr/>
        </p:nvSpPr>
        <p:spPr>
          <a:xfrm>
            <a:off x="1625600" y="5359400"/>
            <a:ext cx="9525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实现文化、科技与金融的共生共荣</a:t>
            </a:r>
            <a:endParaRPr lang="en-US" sz="1100"/>
          </a:p>
        </p:txBody>
      </p:sp>
      <p:cxnSp>
        <p:nvCxnSpPr>
          <p:cNvPr id="16" name="Connector 16"/>
          <p:cNvCxnSpPr/>
          <p:nvPr/>
        </p:nvCxnSpPr>
        <p:spPr>
          <a:xfrm rot="-4297">
            <a:off x="1016004" y="5835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7" name="AutoShape 17"/>
          <p:cNvSpPr/>
          <p:nvPr/>
        </p:nvSpPr>
        <p:spPr>
          <a:xfrm>
            <a:off x="1016000" y="6032500"/>
            <a:ext cx="1016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成为连接中华文化与世界的数字桥梁，让文化资产“</a:t>
            </a:r>
            <a:r>
              <a:rPr lang="en-US" sz="1400" b="1" i="0" u="none" strike="noStrike">
                <a:solidFill>
                  <a:srgbClr val="FFD700"/>
                </a:solidFill>
                <a:latin typeface="Noto Sans SC" panose="020B0200000000000000" charset="-122"/>
                <a:ea typeface="Noto Sans SC" panose="020B0200000000000000" charset="-122"/>
                <a:cs typeface="Noto Sans SC" panose="020B0200000000000000" charset="-122"/>
                <a:sym typeface="Noto Sans SC" panose="020B0200000000000000" charset="-122"/>
              </a:rPr>
              <a:t>确权有据、流通有序、价值可见</a:t>
            </a:r>
            <a:r>
              <a:rPr lang="en-US" sz="1400" b="0"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286000" y="2032000"/>
            <a:ext cx="762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cxnSp>
        <p:nvCxnSpPr>
          <p:cNvPr id="3" name="Connector 3"/>
          <p:cNvCxnSpPr/>
          <p:nvPr/>
        </p:nvCxnSpPr>
        <p:spPr>
          <a:xfrm rot="-57290">
            <a:off x="5715053" y="3041650"/>
            <a:ext cx="762000" cy="12700"/>
          </a:xfrm>
          <a:prstGeom prst="straightConnector1">
            <a:avLst/>
          </a:prstGeom>
          <a:solidFill>
            <a:srgbClr val="DEE0E3">
              <a:alpha val="100000"/>
            </a:srgbClr>
          </a:solidFill>
          <a:ln w="38100" cap="flat" cmpd="sng">
            <a:solidFill>
              <a:srgbClr val="FFD700">
                <a:alpha val="100000"/>
              </a:srgbClr>
            </a:solidFill>
            <a:prstDash val="solid"/>
            <a:round/>
            <a:headEnd type="none" w="lg" len="lg"/>
            <a:tailEnd type="none" w="lg" len="lg"/>
          </a:ln>
        </p:spPr>
      </p:cxnSp>
      <p:sp>
        <p:nvSpPr>
          <p:cNvPr id="4" name="AutoShape 4"/>
          <p:cNvSpPr/>
          <p:nvPr/>
        </p:nvSpPr>
        <p:spPr>
          <a:xfrm>
            <a:off x="2286000" y="3429000"/>
            <a:ext cx="762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000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国文汇通</a:t>
            </a:r>
            <a:endParaRPr lang="en-US" sz="1100"/>
          </a:p>
        </p:txBody>
      </p:sp>
      <p:sp>
        <p:nvSpPr>
          <p:cNvPr id="5" name="AutoShape 5"/>
          <p:cNvSpPr/>
          <p:nvPr/>
        </p:nvSpPr>
        <p:spPr>
          <a:xfrm>
            <a:off x="2286000" y="4064000"/>
            <a:ext cx="762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汇聚文化之光 · 通达数字未来</a:t>
            </a:r>
            <a:endParaRPr lang="en-US" sz="1100"/>
          </a:p>
        </p:txBody>
      </p:sp>
      <p:cxnSp>
        <p:nvCxnSpPr>
          <p:cNvPr id="6" name="Connector 6"/>
          <p:cNvCxnSpPr/>
          <p:nvPr/>
        </p:nvCxnSpPr>
        <p:spPr>
          <a:xfrm rot="-3978">
            <a:off x="609604" y="5708650"/>
            <a:ext cx="109728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7" name="Picture 7"/>
          <p:cNvPicPr>
            <a:picLocks noChangeAspect="1"/>
          </p:cNvPicPr>
          <p:nvPr/>
        </p:nvPicPr>
        <p:blipFill>
          <a:blip r:embed="rId1"/>
          <a:stretch>
            <a:fillRect/>
          </a:stretch>
        </p:blipFill>
        <p:spPr>
          <a:xfrm>
            <a:off x="10668000" y="6190112"/>
            <a:ext cx="1524000" cy="66788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162.64993163867445,&quot;left&quot;:20,&quot;top&quot;:122,&quot;width&quot;:884.0006125795666}"/>
</p:tagLst>
</file>

<file path=ppt/tags/tag2.xml><?xml version="1.0" encoding="utf-8"?>
<p:tagLst xmlns:p="http://schemas.openxmlformats.org/presentationml/2006/main">
  <p:tag name="KSO_WM_DIAGRAM_VIRTUALLY_FRAME" val="{&quot;height&quot;:162.64993163867445,&quot;left&quot;:20,&quot;top&quot;:122,&quot;width&quot;:884.0006125795666}"/>
</p:tagLst>
</file>

<file path=ppt/tags/tag3.xml><?xml version="1.0" encoding="utf-8"?>
<p:tagLst xmlns:p="http://schemas.openxmlformats.org/presentationml/2006/main">
  <p:tag name="KSO_WM_DIAGRAM_VIRTUALLY_FRAME" val="{&quot;height&quot;:162.64993163867445,&quot;left&quot;:20,&quot;top&quot;:122,&quot;width&quot;:884.0006125795666}"/>
</p:tagLst>
</file>

<file path=ppt/tags/tag4.xml><?xml version="1.0" encoding="utf-8"?>
<p:tagLst xmlns:p="http://schemas.openxmlformats.org/presentationml/2006/main">
  <p:tag name="KSO_WM_DIAGRAM_VIRTUALLY_FRAME" val="{&quot;height&quot;:162.64993163867445,&quot;left&quot;:20,&quot;top&quot;:122,&quot;width&quot;:884.0006125795666}"/>
</p:tagLst>
</file>

<file path=ppt/tags/tag5.xml><?xml version="1.0" encoding="utf-8"?>
<p:tagLst xmlns:p="http://schemas.openxmlformats.org/presentationml/2006/main">
  <p:tag name="KSO_WM_DIAGRAM_VIRTUALLY_FRAME" val="{&quot;height&quot;:162.64993163867445,&quot;left&quot;:20,&quot;top&quot;:122,&quot;width&quot;:884.0006125795666}"/>
</p:tagLst>
</file>

<file path=ppt/tags/tag6.xml><?xml version="1.0" encoding="utf-8"?>
<p:tagLst xmlns:p="http://schemas.openxmlformats.org/presentationml/2006/main">
  <p:tag name="KSO_WM_DIAGRAM_VIRTUALLY_FRAME" val="{&quot;height&quot;:162.64993163867445,&quot;left&quot;:20,&quot;top&quot;:122,&quot;width&quot;:884.0006125795666}"/>
</p:tagLst>
</file>

<file path=ppt/tags/tag7.xml><?xml version="1.0" encoding="utf-8"?>
<p:tagLst xmlns:p="http://schemas.openxmlformats.org/presentationml/2006/main">
  <p:tag name="KSO_WM_DIAGRAM_VIRTUALLY_FRAME" val="{&quot;height&quot;:162.64993163867445,&quot;left&quot;:20,&quot;top&quot;:122,&quot;width&quot;:884.0006125795666}"/>
</p:tagLst>
</file>

<file path=ppt/tags/tag8.xml><?xml version="1.0" encoding="utf-8"?>
<p:tagLst xmlns:p="http://schemas.openxmlformats.org/presentationml/2006/main">
  <p:tag name="KSO_WM_DIAGRAM_VIRTUALLY_FRAME" val="{&quot;height&quot;:162.64993163867445,&quot;left&quot;:20,&quot;top&quot;:122,&quot;width&quot;:884.0006125795666}"/>
</p:tagLst>
</file>

<file path=ppt/tags/tag9.xml><?xml version="1.0" encoding="utf-8"?>
<p:tagLst xmlns:p="http://schemas.openxmlformats.org/presentationml/2006/main">
  <p:tag name="KSO_WM_DIAGRAM_VIRTUALLY_FRAME" val="{&quot;height&quot;:162.64993163867445,&quot;left&quot;:20,&quot;top&quot;:122,&quot;width&quot;:884.0006125795666}"/>
</p:tagLst>
</file>

<file path=ppt/tags/tag10.xml><?xml version="1.0" encoding="utf-8"?>
<p:tagLst xmlns:p="http://schemas.openxmlformats.org/presentationml/2006/main">
  <p:tag name="KSO_WM_DIAGRAM_VIRTUALLY_FRAME" val="{&quot;height&quot;:162.64993163867445,&quot;left&quot;:20,&quot;top&quot;:122,&quot;width&quot;:884.0006125795666}"/>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4998</Words>
  <Application>WPS 演示</Application>
  <PresentationFormat/>
  <Paragraphs>499</Paragraphs>
  <Slides>24</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24</vt:i4>
      </vt:variant>
    </vt:vector>
  </HeadingPairs>
  <TitlesOfParts>
    <vt:vector size="33"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青镇善</cp:lastModifiedBy>
  <cp:revision>2</cp:revision>
  <dcterms:created xsi:type="dcterms:W3CDTF">2026-01-28T09:33:00Z</dcterms:created>
  <dcterms:modified xsi:type="dcterms:W3CDTF">2026-01-29T00:44:33Z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FA1BDA06A20B4F7E8283F8BBFCD6F683_12</vt:lpwstr>
  </property>
  <property fmtid="{D5CDD505-2E9C-101B-9397-08002B2CF9AE}" pid="3" name="KSOProductBuildVer">
    <vt:lpwstr>2052-12.1.0.24657</vt:lpwstr>
  </property>
</Properties>
</file>